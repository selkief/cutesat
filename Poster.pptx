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12801600" cy="9601200" type="A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ndeling uten navn" id="{A4DD6135-B060-4C5A-89DF-0A0606FE0407}">
          <p14:sldIdLst/>
        </p14:section>
        <p14:section name="Inndeling uten navn" id="{B20CFDB5-4C9A-415A-9106-2AB66A9F4FBA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114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72CFC9-596A-4911-93E5-340379CA8E9D}" type="datetimeFigureOut">
              <a:rPr lang="nb-NO" smtClean="0"/>
              <a:t>14.11.2025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4FAA01-AC75-498D-B115-265E7CB12A9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93162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1pPr>
    <a:lvl2pPr marL="537667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2pPr>
    <a:lvl3pPr marL="1075334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3pPr>
    <a:lvl4pPr marL="1613002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4pPr>
    <a:lvl5pPr marL="2150669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5pPr>
    <a:lvl6pPr marL="2688336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6pPr>
    <a:lvl7pPr marL="3226003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7pPr>
    <a:lvl8pPr marL="3763670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8pPr>
    <a:lvl9pPr marL="4301338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nb-NO"/>
              <a:t>Klikk for å redigere undertittelstil i malen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D009-49B8-4839-9AFB-185607DF2FE2}" type="datetimeFigureOut">
              <a:rPr lang="nb-NO" smtClean="0"/>
              <a:t>14.11.2025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1BCC-E0BC-40F3-BBBE-A6B77F21C24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96936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D009-49B8-4839-9AFB-185607DF2FE2}" type="datetimeFigureOut">
              <a:rPr lang="nb-NO" smtClean="0"/>
              <a:t>14.11.2025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1BCC-E0BC-40F3-BBBE-A6B77F21C24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65207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D009-49B8-4839-9AFB-185607DF2FE2}" type="datetimeFigureOut">
              <a:rPr lang="nb-NO" smtClean="0"/>
              <a:t>14.11.2025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1BCC-E0BC-40F3-BBBE-A6B77F21C24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86716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D009-49B8-4839-9AFB-185607DF2FE2}" type="datetimeFigureOut">
              <a:rPr lang="nb-NO" smtClean="0"/>
              <a:t>14.11.2025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1BCC-E0BC-40F3-BBBE-A6B77F21C24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1304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D009-49B8-4839-9AFB-185607DF2FE2}" type="datetimeFigureOut">
              <a:rPr lang="nb-NO" smtClean="0"/>
              <a:t>14.11.2025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1BCC-E0BC-40F3-BBBE-A6B77F21C24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07494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D009-49B8-4839-9AFB-185607DF2FE2}" type="datetimeFigureOut">
              <a:rPr lang="nb-NO" smtClean="0"/>
              <a:t>14.11.2025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1BCC-E0BC-40F3-BBBE-A6B77F21C24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93597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D009-49B8-4839-9AFB-185607DF2FE2}" type="datetimeFigureOut">
              <a:rPr lang="nb-NO" smtClean="0"/>
              <a:t>14.11.2025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1BCC-E0BC-40F3-BBBE-A6B77F21C24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93003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D009-49B8-4839-9AFB-185607DF2FE2}" type="datetimeFigureOut">
              <a:rPr lang="nb-NO" smtClean="0"/>
              <a:t>14.11.2025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1BCC-E0BC-40F3-BBBE-A6B77F21C24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83758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D009-49B8-4839-9AFB-185607DF2FE2}" type="datetimeFigureOut">
              <a:rPr lang="nb-NO" smtClean="0"/>
              <a:t>14.11.2025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1BCC-E0BC-40F3-BBBE-A6B77F21C24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09004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D009-49B8-4839-9AFB-185607DF2FE2}" type="datetimeFigureOut">
              <a:rPr lang="nb-NO" smtClean="0"/>
              <a:t>14.11.2025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1BCC-E0BC-40F3-BBBE-A6B77F21C24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98036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D009-49B8-4839-9AFB-185607DF2FE2}" type="datetimeFigureOut">
              <a:rPr lang="nb-NO" smtClean="0"/>
              <a:t>14.11.2025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1BCC-E0BC-40F3-BBBE-A6B77F21C24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85758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16D009-49B8-4839-9AFB-185607DF2FE2}" type="datetimeFigureOut">
              <a:rPr lang="nb-NO" smtClean="0"/>
              <a:t>14.11.2025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C1BCC-E0BC-40F3-BBBE-A6B77F21C24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74891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Sylinder 5">
            <a:extLst>
              <a:ext uri="{FF2B5EF4-FFF2-40B4-BE49-F238E27FC236}">
                <a16:creationId xmlns:a16="http://schemas.microsoft.com/office/drawing/2014/main" id="{276C95D6-A7BE-99EA-2FF7-C029D9BC9964}"/>
              </a:ext>
            </a:extLst>
          </p:cNvPr>
          <p:cNvSpPr txBox="1"/>
          <p:nvPr/>
        </p:nvSpPr>
        <p:spPr>
          <a:xfrm>
            <a:off x="177801" y="174795"/>
            <a:ext cx="12458700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nb-NO" sz="2400" dirty="0">
                <a:solidFill>
                  <a:schemeClr val="tx2"/>
                </a:solidFill>
              </a:rPr>
              <a:t>AGF 223 Flight </a:t>
            </a:r>
            <a:r>
              <a:rPr lang="nb-NO" sz="2400" dirty="0" err="1">
                <a:solidFill>
                  <a:schemeClr val="tx2"/>
                </a:solidFill>
              </a:rPr>
              <a:t>Campaign</a:t>
            </a:r>
            <a:r>
              <a:rPr lang="nb-NO" sz="2400" dirty="0">
                <a:solidFill>
                  <a:schemeClr val="tx2"/>
                </a:solidFill>
              </a:rPr>
              <a:t>: </a:t>
            </a:r>
            <a:r>
              <a:rPr lang="nb-NO" sz="2400" dirty="0" err="1">
                <a:solidFill>
                  <a:schemeClr val="tx2"/>
                </a:solidFill>
              </a:rPr>
              <a:t>CuteSat</a:t>
            </a:r>
            <a:endParaRPr lang="nb-NO" sz="2400" dirty="0">
              <a:solidFill>
                <a:schemeClr val="tx2"/>
              </a:solidFill>
            </a:endParaRPr>
          </a:p>
          <a:p>
            <a:pPr algn="ctr"/>
            <a:r>
              <a:rPr lang="nb-NO" dirty="0">
                <a:solidFill>
                  <a:schemeClr val="accent1"/>
                </a:solidFill>
              </a:rPr>
              <a:t>Selma Kiefersauer </a:t>
            </a:r>
          </a:p>
        </p:txBody>
      </p:sp>
      <p:pic>
        <p:nvPicPr>
          <p:cNvPr id="9" name="Bilde 8" descr="Et bilde som inneholder Grafikk, logo, Font, design&#10;&#10;KI-generert innhold kan være feil.">
            <a:extLst>
              <a:ext uri="{FF2B5EF4-FFF2-40B4-BE49-F238E27FC236}">
                <a16:creationId xmlns:a16="http://schemas.microsoft.com/office/drawing/2014/main" id="{2CD18546-8008-1DCC-555F-66CBA7F75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68" y="227804"/>
            <a:ext cx="1910131" cy="621616"/>
          </a:xfrm>
          <a:prstGeom prst="rect">
            <a:avLst/>
          </a:prstGeom>
        </p:spPr>
      </p:pic>
      <p:sp>
        <p:nvSpPr>
          <p:cNvPr id="10" name="TekstSylinder 9">
            <a:extLst>
              <a:ext uri="{FF2B5EF4-FFF2-40B4-BE49-F238E27FC236}">
                <a16:creationId xmlns:a16="http://schemas.microsoft.com/office/drawing/2014/main" id="{459C71FE-07B7-DE84-E86A-B58AEEE4C279}"/>
              </a:ext>
            </a:extLst>
          </p:cNvPr>
          <p:cNvSpPr txBox="1"/>
          <p:nvPr/>
        </p:nvSpPr>
        <p:spPr>
          <a:xfrm>
            <a:off x="177801" y="1000267"/>
            <a:ext cx="4517343" cy="15465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nb-NO" sz="1050" b="1" dirty="0" err="1">
                <a:solidFill>
                  <a:schemeClr val="tx2"/>
                </a:solidFill>
              </a:rPr>
              <a:t>Objective</a:t>
            </a:r>
            <a:r>
              <a:rPr lang="nb-NO" sz="1050" b="1" dirty="0">
                <a:solidFill>
                  <a:schemeClr val="tx2"/>
                </a:solidFill>
              </a:rPr>
              <a:t>:</a:t>
            </a:r>
          </a:p>
          <a:p>
            <a:pPr algn="just"/>
            <a:r>
              <a:rPr lang="nb-NO" sz="1050" dirty="0" err="1">
                <a:solidFill>
                  <a:schemeClr val="tx2"/>
                </a:solidFill>
              </a:rPr>
              <a:t>Measuring</a:t>
            </a:r>
            <a:r>
              <a:rPr lang="nb-NO" sz="1050" dirty="0">
                <a:solidFill>
                  <a:schemeClr val="tx2"/>
                </a:solidFill>
              </a:rPr>
              <a:t> </a:t>
            </a:r>
            <a:r>
              <a:rPr lang="nb-NO" sz="1050" dirty="0" err="1">
                <a:solidFill>
                  <a:schemeClr val="tx2"/>
                </a:solidFill>
              </a:rPr>
              <a:t>the</a:t>
            </a:r>
            <a:r>
              <a:rPr lang="nb-NO" sz="1050" dirty="0">
                <a:solidFill>
                  <a:schemeClr val="tx2"/>
                </a:solidFill>
              </a:rPr>
              <a:t> </a:t>
            </a:r>
            <a:r>
              <a:rPr lang="nb-NO" sz="1050" dirty="0" err="1">
                <a:solidFill>
                  <a:schemeClr val="tx2"/>
                </a:solidFill>
              </a:rPr>
              <a:t>atmosphere</a:t>
            </a:r>
            <a:r>
              <a:rPr lang="nb-NO" sz="1050" dirty="0">
                <a:solidFill>
                  <a:schemeClr val="tx2"/>
                </a:solidFill>
              </a:rPr>
              <a:t> </a:t>
            </a:r>
            <a:r>
              <a:rPr lang="nb-NO" sz="1050" dirty="0" err="1">
                <a:solidFill>
                  <a:schemeClr val="tx2"/>
                </a:solidFill>
              </a:rPr>
              <a:t>with</a:t>
            </a:r>
            <a:r>
              <a:rPr lang="nb-NO" sz="1050" dirty="0">
                <a:solidFill>
                  <a:schemeClr val="tx2"/>
                </a:solidFill>
              </a:rPr>
              <a:t> a </a:t>
            </a:r>
            <a:r>
              <a:rPr lang="nb-NO" sz="1050" dirty="0" err="1">
                <a:solidFill>
                  <a:schemeClr val="tx2"/>
                </a:solidFill>
              </a:rPr>
              <a:t>CanSat</a:t>
            </a:r>
            <a:r>
              <a:rPr lang="nb-NO" sz="1050" dirty="0">
                <a:solidFill>
                  <a:schemeClr val="tx2"/>
                </a:solidFill>
              </a:rPr>
              <a:t>. </a:t>
            </a:r>
            <a:r>
              <a:rPr lang="nb-NO" sz="1050" dirty="0" err="1">
                <a:solidFill>
                  <a:schemeClr val="tx2"/>
                </a:solidFill>
              </a:rPr>
              <a:t>Creating</a:t>
            </a:r>
            <a:r>
              <a:rPr lang="nb-NO" sz="1050" dirty="0">
                <a:solidFill>
                  <a:schemeClr val="tx2"/>
                </a:solidFill>
              </a:rPr>
              <a:t> a </a:t>
            </a:r>
            <a:r>
              <a:rPr lang="nb-NO" sz="1050" dirty="0" err="1">
                <a:solidFill>
                  <a:schemeClr val="tx2"/>
                </a:solidFill>
              </a:rPr>
              <a:t>heightprofile</a:t>
            </a:r>
            <a:r>
              <a:rPr lang="nb-NO" sz="1050" dirty="0">
                <a:solidFill>
                  <a:schemeClr val="tx2"/>
                </a:solidFill>
              </a:rPr>
              <a:t> </a:t>
            </a:r>
            <a:r>
              <a:rPr lang="nb-NO" sz="1050" dirty="0" err="1">
                <a:solidFill>
                  <a:schemeClr val="tx2"/>
                </a:solidFill>
              </a:rPr>
              <a:t>of</a:t>
            </a:r>
            <a:r>
              <a:rPr lang="nb-NO" sz="1050" dirty="0">
                <a:solidFill>
                  <a:schemeClr val="tx2"/>
                </a:solidFill>
              </a:rPr>
              <a:t> </a:t>
            </a:r>
            <a:r>
              <a:rPr lang="nb-NO" sz="1050" dirty="0" err="1">
                <a:solidFill>
                  <a:schemeClr val="tx2"/>
                </a:solidFill>
              </a:rPr>
              <a:t>the</a:t>
            </a:r>
            <a:r>
              <a:rPr lang="nb-NO" sz="1050" dirty="0">
                <a:solidFill>
                  <a:schemeClr val="tx2"/>
                </a:solidFill>
              </a:rPr>
              <a:t> </a:t>
            </a:r>
            <a:r>
              <a:rPr lang="nb-NO" sz="1050" dirty="0" err="1">
                <a:solidFill>
                  <a:schemeClr val="tx2"/>
                </a:solidFill>
              </a:rPr>
              <a:t>atmosphere</a:t>
            </a:r>
            <a:r>
              <a:rPr lang="nb-NO" sz="1050" dirty="0">
                <a:solidFill>
                  <a:schemeClr val="tx2"/>
                </a:solidFill>
              </a:rPr>
              <a:t>, </a:t>
            </a:r>
            <a:r>
              <a:rPr lang="nb-NO" sz="1050" dirty="0" err="1">
                <a:solidFill>
                  <a:schemeClr val="tx2"/>
                </a:solidFill>
              </a:rPr>
              <a:t>comparing</a:t>
            </a:r>
            <a:r>
              <a:rPr lang="nb-NO" sz="1050" dirty="0">
                <a:solidFill>
                  <a:schemeClr val="tx2"/>
                </a:solidFill>
              </a:rPr>
              <a:t> to standard </a:t>
            </a:r>
            <a:r>
              <a:rPr lang="nb-NO" sz="1050" dirty="0" err="1">
                <a:solidFill>
                  <a:schemeClr val="tx2"/>
                </a:solidFill>
              </a:rPr>
              <a:t>atmosphere</a:t>
            </a:r>
            <a:r>
              <a:rPr lang="nb-NO" sz="1050" dirty="0">
                <a:solidFill>
                  <a:schemeClr val="tx2"/>
                </a:solidFill>
              </a:rPr>
              <a:t> </a:t>
            </a:r>
            <a:r>
              <a:rPr lang="nb-NO" sz="1050" dirty="0" err="1">
                <a:solidFill>
                  <a:schemeClr val="tx2"/>
                </a:solidFill>
              </a:rPr>
              <a:t>model</a:t>
            </a:r>
            <a:r>
              <a:rPr lang="nb-NO" sz="1050" dirty="0">
                <a:solidFill>
                  <a:schemeClr val="tx2"/>
                </a:solidFill>
              </a:rPr>
              <a:t>. The </a:t>
            </a:r>
            <a:r>
              <a:rPr lang="nb-NO" sz="1050" dirty="0" err="1">
                <a:solidFill>
                  <a:schemeClr val="tx2"/>
                </a:solidFill>
              </a:rPr>
              <a:t>Sat</a:t>
            </a:r>
            <a:r>
              <a:rPr lang="nb-NO" sz="1050" dirty="0">
                <a:solidFill>
                  <a:schemeClr val="tx2"/>
                </a:solidFill>
              </a:rPr>
              <a:t> </a:t>
            </a:r>
            <a:r>
              <a:rPr lang="nb-NO" sz="1050" dirty="0" err="1">
                <a:solidFill>
                  <a:schemeClr val="tx2"/>
                </a:solidFill>
              </a:rPr>
              <a:t>gets</a:t>
            </a:r>
            <a:r>
              <a:rPr lang="nb-NO" sz="1050" dirty="0">
                <a:solidFill>
                  <a:schemeClr val="tx2"/>
                </a:solidFill>
              </a:rPr>
              <a:t> </a:t>
            </a:r>
            <a:r>
              <a:rPr lang="nb-NO" sz="1050" dirty="0" err="1">
                <a:solidFill>
                  <a:schemeClr val="tx2"/>
                </a:solidFill>
              </a:rPr>
              <a:t>flown</a:t>
            </a:r>
            <a:r>
              <a:rPr lang="nb-NO" sz="1050" dirty="0">
                <a:solidFill>
                  <a:schemeClr val="tx2"/>
                </a:solidFill>
              </a:rPr>
              <a:t> up </a:t>
            </a:r>
            <a:r>
              <a:rPr lang="nb-NO" sz="1050" dirty="0" err="1">
                <a:solidFill>
                  <a:schemeClr val="tx2"/>
                </a:solidFill>
              </a:rPr>
              <a:t>with</a:t>
            </a:r>
            <a:r>
              <a:rPr lang="nb-NO" sz="1050" dirty="0">
                <a:solidFill>
                  <a:schemeClr val="tx2"/>
                </a:solidFill>
              </a:rPr>
              <a:t> a drone to 120m and </a:t>
            </a:r>
            <a:r>
              <a:rPr lang="nb-NO" sz="1050" dirty="0" err="1">
                <a:solidFill>
                  <a:schemeClr val="tx2"/>
                </a:solidFill>
              </a:rPr>
              <a:t>then</a:t>
            </a:r>
            <a:r>
              <a:rPr lang="nb-NO" sz="1050" dirty="0">
                <a:solidFill>
                  <a:schemeClr val="tx2"/>
                </a:solidFill>
              </a:rPr>
              <a:t> </a:t>
            </a:r>
            <a:r>
              <a:rPr lang="nb-NO" sz="1050" dirty="0" err="1">
                <a:solidFill>
                  <a:schemeClr val="tx2"/>
                </a:solidFill>
              </a:rPr>
              <a:t>dropped</a:t>
            </a:r>
            <a:r>
              <a:rPr lang="nb-NO" sz="1050" dirty="0">
                <a:solidFill>
                  <a:schemeClr val="tx2"/>
                </a:solidFill>
              </a:rPr>
              <a:t> </a:t>
            </a:r>
            <a:r>
              <a:rPr lang="nb-NO" sz="1050" dirty="0" err="1">
                <a:solidFill>
                  <a:schemeClr val="tx2"/>
                </a:solidFill>
              </a:rPr>
              <a:t>with</a:t>
            </a:r>
            <a:r>
              <a:rPr lang="nb-NO" sz="1050" dirty="0">
                <a:solidFill>
                  <a:schemeClr val="tx2"/>
                </a:solidFill>
              </a:rPr>
              <a:t> a (</a:t>
            </a:r>
            <a:r>
              <a:rPr lang="nb-NO" sz="1050" dirty="0" err="1">
                <a:solidFill>
                  <a:schemeClr val="tx2"/>
                </a:solidFill>
              </a:rPr>
              <a:t>hopefully</a:t>
            </a:r>
            <a:r>
              <a:rPr lang="nb-NO" sz="1050" dirty="0">
                <a:solidFill>
                  <a:schemeClr val="tx2"/>
                </a:solidFill>
              </a:rPr>
              <a:t>) </a:t>
            </a:r>
            <a:r>
              <a:rPr lang="nb-NO" sz="1050" dirty="0" err="1">
                <a:solidFill>
                  <a:schemeClr val="tx2"/>
                </a:solidFill>
              </a:rPr>
              <a:t>deployed</a:t>
            </a:r>
            <a:r>
              <a:rPr lang="nb-NO" sz="1050" dirty="0">
                <a:solidFill>
                  <a:schemeClr val="tx2"/>
                </a:solidFill>
              </a:rPr>
              <a:t> </a:t>
            </a:r>
            <a:r>
              <a:rPr lang="nb-NO" sz="1050" dirty="0" err="1">
                <a:solidFill>
                  <a:schemeClr val="tx2"/>
                </a:solidFill>
              </a:rPr>
              <a:t>parachute</a:t>
            </a:r>
            <a:r>
              <a:rPr lang="nb-NO" sz="1050" dirty="0">
                <a:solidFill>
                  <a:schemeClr val="tx2"/>
                </a:solidFill>
              </a:rPr>
              <a:t>. </a:t>
            </a:r>
            <a:r>
              <a:rPr lang="nb-NO" sz="1050" dirty="0" err="1">
                <a:solidFill>
                  <a:schemeClr val="tx2"/>
                </a:solidFill>
              </a:rPr>
              <a:t>We</a:t>
            </a:r>
            <a:r>
              <a:rPr lang="nb-NO" sz="1050" dirty="0">
                <a:solidFill>
                  <a:schemeClr val="tx2"/>
                </a:solidFill>
              </a:rPr>
              <a:t> </a:t>
            </a:r>
            <a:r>
              <a:rPr lang="nb-NO" sz="1050" dirty="0" err="1">
                <a:solidFill>
                  <a:schemeClr val="tx2"/>
                </a:solidFill>
              </a:rPr>
              <a:t>did</a:t>
            </a:r>
            <a:r>
              <a:rPr lang="nb-NO" sz="1050" dirty="0">
                <a:solidFill>
                  <a:schemeClr val="tx2"/>
                </a:solidFill>
              </a:rPr>
              <a:t> 10 </a:t>
            </a:r>
            <a:r>
              <a:rPr lang="nb-NO" sz="1050" dirty="0" err="1">
                <a:solidFill>
                  <a:schemeClr val="tx2"/>
                </a:solidFill>
              </a:rPr>
              <a:t>flights</a:t>
            </a:r>
            <a:r>
              <a:rPr lang="nb-NO" sz="1050" dirty="0">
                <a:solidFill>
                  <a:schemeClr val="tx2"/>
                </a:solidFill>
              </a:rPr>
              <a:t> at KHO </a:t>
            </a:r>
            <a:r>
              <a:rPr lang="nb-NO" sz="1050" dirty="0" err="1">
                <a:solidFill>
                  <a:schemeClr val="tx2"/>
                </a:solidFill>
              </a:rPr>
              <a:t>observatory</a:t>
            </a:r>
            <a:r>
              <a:rPr lang="nb-NO" sz="1050" dirty="0">
                <a:solidFill>
                  <a:schemeClr val="tx2"/>
                </a:solidFill>
              </a:rPr>
              <a:t> </a:t>
            </a:r>
            <a:r>
              <a:rPr lang="nb-NO" sz="1050" dirty="0" err="1">
                <a:solidFill>
                  <a:schemeClr val="tx2"/>
                </a:solidFill>
              </a:rPr>
              <a:t>which</a:t>
            </a:r>
            <a:r>
              <a:rPr lang="nb-NO" sz="1050" dirty="0">
                <a:solidFill>
                  <a:schemeClr val="tx2"/>
                </a:solidFill>
              </a:rPr>
              <a:t> is at 520m </a:t>
            </a:r>
            <a:r>
              <a:rPr lang="nb-NO" sz="1050" dirty="0" err="1">
                <a:solidFill>
                  <a:schemeClr val="tx2"/>
                </a:solidFill>
              </a:rPr>
              <a:t>above</a:t>
            </a:r>
            <a:r>
              <a:rPr lang="nb-NO" sz="1050" dirty="0">
                <a:solidFill>
                  <a:schemeClr val="tx2"/>
                </a:solidFill>
              </a:rPr>
              <a:t> </a:t>
            </a:r>
            <a:r>
              <a:rPr lang="nb-NO" sz="1050" dirty="0" err="1">
                <a:solidFill>
                  <a:schemeClr val="tx2"/>
                </a:solidFill>
              </a:rPr>
              <a:t>sealevel</a:t>
            </a:r>
            <a:r>
              <a:rPr lang="nb-NO" sz="1050" dirty="0">
                <a:solidFill>
                  <a:schemeClr val="tx2"/>
                </a:solidFill>
              </a:rPr>
              <a:t>, and 2 </a:t>
            </a:r>
            <a:r>
              <a:rPr lang="nb-NO" sz="1050" dirty="0" err="1">
                <a:solidFill>
                  <a:schemeClr val="tx2"/>
                </a:solidFill>
              </a:rPr>
              <a:t>flights</a:t>
            </a:r>
            <a:r>
              <a:rPr lang="nb-NO" sz="1050" dirty="0">
                <a:solidFill>
                  <a:schemeClr val="tx2"/>
                </a:solidFill>
              </a:rPr>
              <a:t> in Adventdalen at … m </a:t>
            </a:r>
            <a:r>
              <a:rPr lang="nb-NO" sz="1050" dirty="0" err="1">
                <a:solidFill>
                  <a:schemeClr val="tx2"/>
                </a:solidFill>
              </a:rPr>
              <a:t>above</a:t>
            </a:r>
            <a:r>
              <a:rPr lang="nb-NO" sz="1050" dirty="0">
                <a:solidFill>
                  <a:schemeClr val="tx2"/>
                </a:solidFill>
              </a:rPr>
              <a:t> </a:t>
            </a:r>
            <a:r>
              <a:rPr lang="nb-NO" sz="1050" dirty="0" err="1">
                <a:solidFill>
                  <a:schemeClr val="tx2"/>
                </a:solidFill>
              </a:rPr>
              <a:t>sealevel</a:t>
            </a:r>
            <a:r>
              <a:rPr lang="nb-NO" sz="1050" dirty="0">
                <a:solidFill>
                  <a:schemeClr val="tx2"/>
                </a:solidFill>
              </a:rPr>
              <a:t>. Just </a:t>
            </a:r>
            <a:r>
              <a:rPr lang="nb-NO" sz="1050" dirty="0" err="1">
                <a:solidFill>
                  <a:schemeClr val="tx2"/>
                </a:solidFill>
              </a:rPr>
              <a:t>one</a:t>
            </a:r>
            <a:r>
              <a:rPr lang="nb-NO" sz="1050" dirty="0">
                <a:solidFill>
                  <a:schemeClr val="tx2"/>
                </a:solidFill>
              </a:rPr>
              <a:t> </a:t>
            </a:r>
            <a:r>
              <a:rPr lang="nb-NO" sz="1050" dirty="0" err="1">
                <a:solidFill>
                  <a:schemeClr val="tx2"/>
                </a:solidFill>
              </a:rPr>
              <a:t>flight</a:t>
            </a:r>
            <a:r>
              <a:rPr lang="nb-NO" sz="1050" dirty="0">
                <a:solidFill>
                  <a:schemeClr val="tx2"/>
                </a:solidFill>
              </a:rPr>
              <a:t> in Adventdalen gave </a:t>
            </a:r>
            <a:r>
              <a:rPr lang="nb-NO" sz="1050" dirty="0" err="1">
                <a:solidFill>
                  <a:schemeClr val="tx2"/>
                </a:solidFill>
              </a:rPr>
              <a:t>reasonable</a:t>
            </a:r>
            <a:r>
              <a:rPr lang="nb-NO" sz="1050" dirty="0">
                <a:solidFill>
                  <a:schemeClr val="tx2"/>
                </a:solidFill>
              </a:rPr>
              <a:t> data </a:t>
            </a:r>
            <a:r>
              <a:rPr lang="nb-NO" sz="1050" dirty="0" err="1">
                <a:solidFill>
                  <a:schemeClr val="tx2"/>
                </a:solidFill>
              </a:rPr>
              <a:t>though</a:t>
            </a:r>
            <a:r>
              <a:rPr lang="nb-NO" sz="1050" dirty="0">
                <a:solidFill>
                  <a:schemeClr val="tx2"/>
                </a:solidFill>
              </a:rPr>
              <a:t>, as </a:t>
            </a:r>
            <a:r>
              <a:rPr lang="nb-NO" sz="1050" dirty="0" err="1">
                <a:solidFill>
                  <a:schemeClr val="tx2"/>
                </a:solidFill>
              </a:rPr>
              <a:t>we</a:t>
            </a:r>
            <a:r>
              <a:rPr lang="nb-NO" sz="1050" dirty="0">
                <a:solidFill>
                  <a:schemeClr val="tx2"/>
                </a:solidFill>
              </a:rPr>
              <a:t> </a:t>
            </a:r>
            <a:r>
              <a:rPr lang="nb-NO" sz="1050" dirty="0" err="1">
                <a:solidFill>
                  <a:schemeClr val="tx2"/>
                </a:solidFill>
              </a:rPr>
              <a:t>had</a:t>
            </a:r>
            <a:r>
              <a:rPr lang="nb-NO" sz="1050" dirty="0">
                <a:solidFill>
                  <a:schemeClr val="tx2"/>
                </a:solidFill>
              </a:rPr>
              <a:t> huge data gaps in </a:t>
            </a:r>
            <a:r>
              <a:rPr lang="nb-NO" sz="1050" dirty="0" err="1">
                <a:solidFill>
                  <a:schemeClr val="tx2"/>
                </a:solidFill>
              </a:rPr>
              <a:t>the</a:t>
            </a:r>
            <a:r>
              <a:rPr lang="nb-NO" sz="1050" dirty="0">
                <a:solidFill>
                  <a:schemeClr val="tx2"/>
                </a:solidFill>
              </a:rPr>
              <a:t> </a:t>
            </a:r>
            <a:r>
              <a:rPr lang="nb-NO" sz="1050" dirty="0" err="1">
                <a:solidFill>
                  <a:schemeClr val="tx2"/>
                </a:solidFill>
              </a:rPr>
              <a:t>second</a:t>
            </a:r>
            <a:r>
              <a:rPr lang="nb-NO" sz="1050" dirty="0">
                <a:solidFill>
                  <a:schemeClr val="tx2"/>
                </a:solidFill>
              </a:rPr>
              <a:t> </a:t>
            </a:r>
            <a:r>
              <a:rPr lang="nb-NO" sz="1050" dirty="0" err="1">
                <a:solidFill>
                  <a:schemeClr val="tx2"/>
                </a:solidFill>
              </a:rPr>
              <a:t>flight</a:t>
            </a:r>
            <a:r>
              <a:rPr lang="nb-NO" sz="1050" dirty="0">
                <a:solidFill>
                  <a:schemeClr val="tx2"/>
                </a:solidFill>
              </a:rPr>
              <a:t>. (</a:t>
            </a:r>
            <a:r>
              <a:rPr lang="nb-NO" sz="1050" dirty="0" err="1">
                <a:solidFill>
                  <a:schemeClr val="tx2"/>
                </a:solidFill>
              </a:rPr>
              <a:t>Include</a:t>
            </a:r>
            <a:r>
              <a:rPr lang="nb-NO" sz="1050" dirty="0">
                <a:solidFill>
                  <a:schemeClr val="tx2"/>
                </a:solidFill>
              </a:rPr>
              <a:t> </a:t>
            </a:r>
            <a:r>
              <a:rPr lang="nb-NO" sz="1050" dirty="0" err="1">
                <a:solidFill>
                  <a:schemeClr val="tx2"/>
                </a:solidFill>
              </a:rPr>
              <a:t>the</a:t>
            </a:r>
            <a:r>
              <a:rPr lang="nb-NO" sz="1050" dirty="0">
                <a:solidFill>
                  <a:schemeClr val="tx2"/>
                </a:solidFill>
              </a:rPr>
              <a:t> </a:t>
            </a:r>
            <a:r>
              <a:rPr lang="nb-NO" sz="1050" dirty="0" err="1">
                <a:solidFill>
                  <a:schemeClr val="tx2"/>
                </a:solidFill>
              </a:rPr>
              <a:t>one</a:t>
            </a:r>
            <a:r>
              <a:rPr lang="nb-NO" sz="1050" dirty="0">
                <a:solidFill>
                  <a:schemeClr val="tx2"/>
                </a:solidFill>
              </a:rPr>
              <a:t> Adventdalen </a:t>
            </a:r>
            <a:r>
              <a:rPr lang="nb-NO" sz="1050" dirty="0" err="1">
                <a:solidFill>
                  <a:schemeClr val="tx2"/>
                </a:solidFill>
              </a:rPr>
              <a:t>flight</a:t>
            </a:r>
            <a:r>
              <a:rPr lang="nb-NO" sz="1050" dirty="0">
                <a:solidFill>
                  <a:schemeClr val="tx2"/>
                </a:solidFill>
              </a:rPr>
              <a:t>? </a:t>
            </a:r>
            <a:r>
              <a:rPr lang="nb-NO" sz="1050" dirty="0" err="1">
                <a:solidFill>
                  <a:schemeClr val="tx2"/>
                </a:solidFill>
              </a:rPr>
              <a:t>Does</a:t>
            </a:r>
            <a:r>
              <a:rPr lang="nb-NO" sz="1050" dirty="0">
                <a:solidFill>
                  <a:schemeClr val="tx2"/>
                </a:solidFill>
              </a:rPr>
              <a:t> it </a:t>
            </a:r>
            <a:r>
              <a:rPr lang="nb-NO" sz="1050" dirty="0" err="1">
                <a:solidFill>
                  <a:schemeClr val="tx2"/>
                </a:solidFill>
              </a:rPr>
              <a:t>give</a:t>
            </a:r>
            <a:r>
              <a:rPr lang="nb-NO" sz="1050" dirty="0">
                <a:solidFill>
                  <a:schemeClr val="tx2"/>
                </a:solidFill>
              </a:rPr>
              <a:t> </a:t>
            </a:r>
            <a:r>
              <a:rPr lang="nb-NO" sz="1050" dirty="0" err="1">
                <a:solidFill>
                  <a:schemeClr val="tx2"/>
                </a:solidFill>
              </a:rPr>
              <a:t>any</a:t>
            </a:r>
            <a:r>
              <a:rPr lang="nb-NO" sz="1050" dirty="0">
                <a:solidFill>
                  <a:schemeClr val="tx2"/>
                </a:solidFill>
              </a:rPr>
              <a:t> </a:t>
            </a:r>
            <a:r>
              <a:rPr lang="nb-NO" sz="1050" dirty="0" err="1">
                <a:solidFill>
                  <a:schemeClr val="tx2"/>
                </a:solidFill>
              </a:rPr>
              <a:t>new</a:t>
            </a:r>
            <a:r>
              <a:rPr lang="nb-NO" sz="1050" dirty="0">
                <a:solidFill>
                  <a:schemeClr val="tx2"/>
                </a:solidFill>
              </a:rPr>
              <a:t> </a:t>
            </a:r>
            <a:r>
              <a:rPr lang="nb-NO" sz="1050" dirty="0" err="1">
                <a:solidFill>
                  <a:schemeClr val="tx2"/>
                </a:solidFill>
              </a:rPr>
              <a:t>insights</a:t>
            </a:r>
            <a:r>
              <a:rPr lang="nb-NO" sz="1050" dirty="0">
                <a:solidFill>
                  <a:schemeClr val="tx2"/>
                </a:solidFill>
              </a:rPr>
              <a:t>?)</a:t>
            </a: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2B00647E-35B2-8F95-4723-304175E4F39A}"/>
              </a:ext>
            </a:extLst>
          </p:cNvPr>
          <p:cNvSpPr txBox="1"/>
          <p:nvPr/>
        </p:nvSpPr>
        <p:spPr>
          <a:xfrm>
            <a:off x="4796440" y="988392"/>
            <a:ext cx="4013200" cy="116955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  <a:effectLst/>
        </p:spPr>
        <p:txBody>
          <a:bodyPr wrap="square" rtlCol="0">
            <a:spAutoFit/>
          </a:bodyPr>
          <a:lstStyle/>
          <a:p>
            <a:pPr algn="just"/>
            <a:r>
              <a:rPr lang="nb-NO" sz="1000" b="1" dirty="0" err="1">
                <a:solidFill>
                  <a:schemeClr val="tx2"/>
                </a:solidFill>
              </a:rPr>
              <a:t>Calibration</a:t>
            </a:r>
            <a:r>
              <a:rPr lang="nb-NO" sz="1000" b="1" dirty="0">
                <a:solidFill>
                  <a:schemeClr val="tx2"/>
                </a:solidFill>
              </a:rPr>
              <a:t> </a:t>
            </a:r>
            <a:r>
              <a:rPr lang="nb-NO" sz="1000" b="1" dirty="0" err="1">
                <a:solidFill>
                  <a:schemeClr val="tx2"/>
                </a:solidFill>
              </a:rPr>
              <a:t>of</a:t>
            </a:r>
            <a:r>
              <a:rPr lang="nb-NO" sz="1000" b="1" dirty="0">
                <a:solidFill>
                  <a:schemeClr val="tx2"/>
                </a:solidFill>
              </a:rPr>
              <a:t> sensors:</a:t>
            </a:r>
          </a:p>
          <a:p>
            <a:pPr algn="just"/>
            <a:r>
              <a:rPr lang="nb-NO" sz="1000" dirty="0" err="1">
                <a:solidFill>
                  <a:schemeClr val="tx2"/>
                </a:solidFill>
              </a:rPr>
              <a:t>Humidity</a:t>
            </a:r>
            <a:r>
              <a:rPr lang="nb-NO" sz="1000" dirty="0">
                <a:solidFill>
                  <a:schemeClr val="tx2"/>
                </a:solidFill>
              </a:rPr>
              <a:t> and </a:t>
            </a:r>
            <a:r>
              <a:rPr lang="nb-NO" sz="1000" dirty="0" err="1">
                <a:solidFill>
                  <a:schemeClr val="tx2"/>
                </a:solidFill>
              </a:rPr>
              <a:t>temperature</a:t>
            </a:r>
            <a:r>
              <a:rPr lang="nb-NO" sz="1000" dirty="0">
                <a:solidFill>
                  <a:schemeClr val="tx2"/>
                </a:solidFill>
              </a:rPr>
              <a:t> have a </a:t>
            </a:r>
            <a:r>
              <a:rPr lang="nb-NO" sz="1000" dirty="0" err="1">
                <a:solidFill>
                  <a:schemeClr val="tx2"/>
                </a:solidFill>
              </a:rPr>
              <a:t>ridiculously</a:t>
            </a:r>
            <a:r>
              <a:rPr lang="nb-NO" sz="1000" dirty="0">
                <a:solidFill>
                  <a:schemeClr val="tx2"/>
                </a:solidFill>
              </a:rPr>
              <a:t> </a:t>
            </a:r>
            <a:r>
              <a:rPr lang="nb-NO" sz="1000" dirty="0" err="1">
                <a:solidFill>
                  <a:schemeClr val="tx2"/>
                </a:solidFill>
              </a:rPr>
              <a:t>long</a:t>
            </a:r>
            <a:r>
              <a:rPr lang="nb-NO" sz="1000" dirty="0">
                <a:solidFill>
                  <a:schemeClr val="tx2"/>
                </a:solidFill>
              </a:rPr>
              <a:t> time </a:t>
            </a:r>
            <a:r>
              <a:rPr lang="nb-NO" sz="1000" dirty="0" err="1">
                <a:solidFill>
                  <a:schemeClr val="tx2"/>
                </a:solidFill>
              </a:rPr>
              <a:t>constant</a:t>
            </a:r>
            <a:r>
              <a:rPr lang="nb-NO" sz="1000" dirty="0">
                <a:solidFill>
                  <a:schemeClr val="tx2"/>
                </a:solidFill>
              </a:rPr>
              <a:t>, </a:t>
            </a:r>
            <a:r>
              <a:rPr lang="nb-NO" sz="1000" dirty="0" err="1">
                <a:solidFill>
                  <a:schemeClr val="tx2"/>
                </a:solidFill>
              </a:rPr>
              <a:t>several</a:t>
            </a:r>
            <a:r>
              <a:rPr lang="nb-NO" sz="1000" dirty="0">
                <a:solidFill>
                  <a:schemeClr val="tx2"/>
                </a:solidFill>
              </a:rPr>
              <a:t> </a:t>
            </a:r>
            <a:r>
              <a:rPr lang="nb-NO" sz="1000" dirty="0" err="1">
                <a:solidFill>
                  <a:schemeClr val="tx2"/>
                </a:solidFill>
              </a:rPr>
              <a:t>minutes</a:t>
            </a:r>
            <a:r>
              <a:rPr lang="nb-NO" sz="1000" dirty="0">
                <a:solidFill>
                  <a:schemeClr val="tx2"/>
                </a:solidFill>
              </a:rPr>
              <a:t>. Part </a:t>
            </a:r>
            <a:r>
              <a:rPr lang="nb-NO" sz="1000" dirty="0" err="1">
                <a:solidFill>
                  <a:schemeClr val="tx2"/>
                </a:solidFill>
              </a:rPr>
              <a:t>of</a:t>
            </a:r>
            <a:r>
              <a:rPr lang="nb-NO" sz="1000" dirty="0">
                <a:solidFill>
                  <a:schemeClr val="tx2"/>
                </a:solidFill>
              </a:rPr>
              <a:t> </a:t>
            </a:r>
            <a:r>
              <a:rPr lang="nb-NO" sz="1000" dirty="0" err="1">
                <a:solidFill>
                  <a:schemeClr val="tx2"/>
                </a:solidFill>
              </a:rPr>
              <a:t>the</a:t>
            </a:r>
            <a:r>
              <a:rPr lang="nb-NO" sz="1000" dirty="0">
                <a:solidFill>
                  <a:schemeClr val="tx2"/>
                </a:solidFill>
              </a:rPr>
              <a:t> problem is </a:t>
            </a:r>
            <a:r>
              <a:rPr lang="nb-NO" sz="1000" dirty="0" err="1">
                <a:solidFill>
                  <a:schemeClr val="tx2"/>
                </a:solidFill>
              </a:rPr>
              <a:t>the</a:t>
            </a:r>
            <a:r>
              <a:rPr lang="nb-NO" sz="1000" dirty="0">
                <a:solidFill>
                  <a:schemeClr val="tx2"/>
                </a:solidFill>
              </a:rPr>
              <a:t> sensors </a:t>
            </a:r>
            <a:r>
              <a:rPr lang="nb-NO" sz="1000" dirty="0" err="1">
                <a:solidFill>
                  <a:schemeClr val="tx2"/>
                </a:solidFill>
              </a:rPr>
              <a:t>being</a:t>
            </a:r>
            <a:r>
              <a:rPr lang="nb-NO" sz="1000" dirty="0">
                <a:solidFill>
                  <a:schemeClr val="tx2"/>
                </a:solidFill>
              </a:rPr>
              <a:t> </a:t>
            </a:r>
            <a:r>
              <a:rPr lang="nb-NO" sz="1000" dirty="0" err="1">
                <a:solidFill>
                  <a:schemeClr val="tx2"/>
                </a:solidFill>
              </a:rPr>
              <a:t>inside</a:t>
            </a:r>
            <a:r>
              <a:rPr lang="nb-NO" sz="1000" dirty="0">
                <a:solidFill>
                  <a:schemeClr val="tx2"/>
                </a:solidFill>
              </a:rPr>
              <a:t> </a:t>
            </a:r>
            <a:r>
              <a:rPr lang="nb-NO" sz="1000" dirty="0" err="1">
                <a:solidFill>
                  <a:schemeClr val="tx2"/>
                </a:solidFill>
              </a:rPr>
              <a:t>the</a:t>
            </a:r>
            <a:r>
              <a:rPr lang="nb-NO" sz="1000" dirty="0">
                <a:solidFill>
                  <a:schemeClr val="tx2"/>
                </a:solidFill>
              </a:rPr>
              <a:t> </a:t>
            </a:r>
            <a:r>
              <a:rPr lang="nb-NO" sz="1000" dirty="0" err="1">
                <a:solidFill>
                  <a:schemeClr val="tx2"/>
                </a:solidFill>
              </a:rPr>
              <a:t>can</a:t>
            </a:r>
            <a:r>
              <a:rPr lang="nb-NO" sz="1000" dirty="0">
                <a:solidFill>
                  <a:schemeClr val="tx2"/>
                </a:solidFill>
              </a:rPr>
              <a:t>. In </a:t>
            </a:r>
            <a:r>
              <a:rPr lang="nb-NO" sz="1000" dirty="0" err="1">
                <a:solidFill>
                  <a:schemeClr val="tx2"/>
                </a:solidFill>
              </a:rPr>
              <a:t>addition</a:t>
            </a:r>
            <a:r>
              <a:rPr lang="nb-NO" sz="1000" dirty="0">
                <a:solidFill>
                  <a:schemeClr val="tx2"/>
                </a:solidFill>
              </a:rPr>
              <a:t> </a:t>
            </a:r>
            <a:r>
              <a:rPr lang="nb-NO" sz="1000" dirty="0" err="1">
                <a:solidFill>
                  <a:schemeClr val="tx2"/>
                </a:solidFill>
              </a:rPr>
              <a:t>the</a:t>
            </a:r>
            <a:r>
              <a:rPr lang="nb-NO" sz="1000" dirty="0">
                <a:solidFill>
                  <a:schemeClr val="tx2"/>
                </a:solidFill>
              </a:rPr>
              <a:t> </a:t>
            </a:r>
            <a:r>
              <a:rPr lang="nb-NO" sz="1000" dirty="0" err="1">
                <a:solidFill>
                  <a:schemeClr val="tx2"/>
                </a:solidFill>
              </a:rPr>
              <a:t>electronics</a:t>
            </a:r>
            <a:r>
              <a:rPr lang="nb-NO" sz="1000" dirty="0">
                <a:solidFill>
                  <a:schemeClr val="tx2"/>
                </a:solidFill>
              </a:rPr>
              <a:t> </a:t>
            </a:r>
            <a:r>
              <a:rPr lang="nb-NO" sz="1000" dirty="0" err="1">
                <a:solidFill>
                  <a:schemeClr val="tx2"/>
                </a:solidFill>
              </a:rPr>
              <a:t>of</a:t>
            </a:r>
            <a:r>
              <a:rPr lang="nb-NO" sz="1000" dirty="0">
                <a:solidFill>
                  <a:schemeClr val="tx2"/>
                </a:solidFill>
              </a:rPr>
              <a:t> </a:t>
            </a:r>
            <a:r>
              <a:rPr lang="nb-NO" sz="1000" dirty="0" err="1">
                <a:solidFill>
                  <a:schemeClr val="tx2"/>
                </a:solidFill>
              </a:rPr>
              <a:t>the</a:t>
            </a:r>
            <a:r>
              <a:rPr lang="nb-NO" sz="1000" dirty="0">
                <a:solidFill>
                  <a:schemeClr val="tx2"/>
                </a:solidFill>
              </a:rPr>
              <a:t> </a:t>
            </a:r>
            <a:r>
              <a:rPr lang="nb-NO" sz="1000" dirty="0" err="1">
                <a:solidFill>
                  <a:schemeClr val="tx2"/>
                </a:solidFill>
              </a:rPr>
              <a:t>Sat</a:t>
            </a:r>
            <a:r>
              <a:rPr lang="nb-NO" sz="1000" dirty="0">
                <a:solidFill>
                  <a:schemeClr val="tx2"/>
                </a:solidFill>
              </a:rPr>
              <a:t> </a:t>
            </a:r>
            <a:r>
              <a:rPr lang="nb-NO" sz="1000" dirty="0" err="1">
                <a:solidFill>
                  <a:schemeClr val="tx2"/>
                </a:solidFill>
              </a:rPr>
              <a:t>produce</a:t>
            </a:r>
            <a:r>
              <a:rPr lang="nb-NO" sz="1000" dirty="0">
                <a:solidFill>
                  <a:schemeClr val="tx2"/>
                </a:solidFill>
              </a:rPr>
              <a:t> </a:t>
            </a:r>
            <a:r>
              <a:rPr lang="nb-NO" sz="1000" dirty="0" err="1">
                <a:solidFill>
                  <a:schemeClr val="tx2"/>
                </a:solidFill>
              </a:rPr>
              <a:t>warmth</a:t>
            </a:r>
            <a:r>
              <a:rPr lang="nb-NO" sz="1000" dirty="0">
                <a:solidFill>
                  <a:schemeClr val="tx2"/>
                </a:solidFill>
              </a:rPr>
              <a:t> </a:t>
            </a:r>
            <a:r>
              <a:rPr lang="nb-NO" sz="1000" dirty="0" err="1">
                <a:solidFill>
                  <a:schemeClr val="tx2"/>
                </a:solidFill>
              </a:rPr>
              <a:t>which</a:t>
            </a:r>
            <a:r>
              <a:rPr lang="nb-NO" sz="1000" dirty="0">
                <a:solidFill>
                  <a:schemeClr val="tx2"/>
                </a:solidFill>
              </a:rPr>
              <a:t> leads to a 2-3 </a:t>
            </a:r>
            <a:r>
              <a:rPr lang="nb-NO" sz="1000" dirty="0" err="1">
                <a:solidFill>
                  <a:schemeClr val="tx2"/>
                </a:solidFill>
              </a:rPr>
              <a:t>degree</a:t>
            </a:r>
            <a:r>
              <a:rPr lang="nb-NO" sz="1000" dirty="0">
                <a:solidFill>
                  <a:schemeClr val="tx2"/>
                </a:solidFill>
              </a:rPr>
              <a:t> </a:t>
            </a:r>
            <a:r>
              <a:rPr lang="nb-NO" sz="1000" dirty="0" err="1">
                <a:solidFill>
                  <a:schemeClr val="tx2"/>
                </a:solidFill>
              </a:rPr>
              <a:t>difference</a:t>
            </a:r>
            <a:r>
              <a:rPr lang="nb-NO" sz="1000" dirty="0">
                <a:solidFill>
                  <a:schemeClr val="tx2"/>
                </a:solidFill>
              </a:rPr>
              <a:t> </a:t>
            </a:r>
            <a:r>
              <a:rPr lang="nb-NO" sz="1000" dirty="0" err="1">
                <a:solidFill>
                  <a:schemeClr val="tx2"/>
                </a:solidFill>
              </a:rPr>
              <a:t>compared</a:t>
            </a:r>
            <a:r>
              <a:rPr lang="nb-NO" sz="1000" dirty="0">
                <a:solidFill>
                  <a:schemeClr val="tx2"/>
                </a:solidFill>
              </a:rPr>
              <a:t> to </a:t>
            </a:r>
            <a:r>
              <a:rPr lang="nb-NO" sz="1000" dirty="0" err="1">
                <a:solidFill>
                  <a:schemeClr val="tx2"/>
                </a:solidFill>
              </a:rPr>
              <a:t>reference</a:t>
            </a:r>
            <a:r>
              <a:rPr lang="nb-NO" sz="1000" dirty="0">
                <a:solidFill>
                  <a:schemeClr val="tx2"/>
                </a:solidFill>
              </a:rPr>
              <a:t> sensors. The NTC has a time-</a:t>
            </a:r>
            <a:r>
              <a:rPr lang="nb-NO" sz="1000" dirty="0" err="1">
                <a:solidFill>
                  <a:schemeClr val="tx2"/>
                </a:solidFill>
              </a:rPr>
              <a:t>constant</a:t>
            </a:r>
            <a:r>
              <a:rPr lang="nb-NO" sz="1000" dirty="0">
                <a:solidFill>
                  <a:schemeClr val="tx2"/>
                </a:solidFill>
              </a:rPr>
              <a:t> </a:t>
            </a:r>
            <a:r>
              <a:rPr lang="nb-NO" sz="1000" dirty="0" err="1">
                <a:solidFill>
                  <a:schemeClr val="tx2"/>
                </a:solidFill>
              </a:rPr>
              <a:t>of</a:t>
            </a:r>
            <a:r>
              <a:rPr lang="nb-NO" sz="1000" dirty="0">
                <a:solidFill>
                  <a:schemeClr val="tx2"/>
                </a:solidFill>
              </a:rPr>
              <a:t> 9s, so </a:t>
            </a:r>
            <a:r>
              <a:rPr lang="nb-NO" sz="1000" dirty="0" err="1">
                <a:solidFill>
                  <a:schemeClr val="tx2"/>
                </a:solidFill>
              </a:rPr>
              <a:t>too</a:t>
            </a:r>
            <a:r>
              <a:rPr lang="nb-NO" sz="1000" dirty="0">
                <a:solidFill>
                  <a:schemeClr val="tx2"/>
                </a:solidFill>
              </a:rPr>
              <a:t> </a:t>
            </a:r>
            <a:r>
              <a:rPr lang="nb-NO" sz="1000" dirty="0" err="1">
                <a:solidFill>
                  <a:schemeClr val="tx2"/>
                </a:solidFill>
              </a:rPr>
              <a:t>long</a:t>
            </a:r>
            <a:r>
              <a:rPr lang="nb-NO" sz="1000" dirty="0">
                <a:solidFill>
                  <a:schemeClr val="tx2"/>
                </a:solidFill>
              </a:rPr>
              <a:t> for </a:t>
            </a:r>
            <a:r>
              <a:rPr lang="nb-NO" sz="1000" dirty="0" err="1">
                <a:solidFill>
                  <a:schemeClr val="tx2"/>
                </a:solidFill>
              </a:rPr>
              <a:t>the</a:t>
            </a:r>
            <a:r>
              <a:rPr lang="nb-NO" sz="1000" dirty="0">
                <a:solidFill>
                  <a:schemeClr val="tx2"/>
                </a:solidFill>
              </a:rPr>
              <a:t> </a:t>
            </a:r>
            <a:r>
              <a:rPr lang="nb-NO" sz="1000" dirty="0" err="1">
                <a:solidFill>
                  <a:schemeClr val="tx2"/>
                </a:solidFill>
              </a:rPr>
              <a:t>flights</a:t>
            </a:r>
            <a:r>
              <a:rPr lang="nb-NO" sz="1000" dirty="0">
                <a:solidFill>
                  <a:schemeClr val="tx2"/>
                </a:solidFill>
              </a:rPr>
              <a:t> </a:t>
            </a:r>
            <a:r>
              <a:rPr lang="nb-NO" sz="1000" dirty="0" err="1">
                <a:solidFill>
                  <a:schemeClr val="tx2"/>
                </a:solidFill>
              </a:rPr>
              <a:t>but</a:t>
            </a:r>
            <a:r>
              <a:rPr lang="nb-NO" sz="1000" dirty="0">
                <a:solidFill>
                  <a:schemeClr val="tx2"/>
                </a:solidFill>
              </a:rPr>
              <a:t> </a:t>
            </a:r>
            <a:r>
              <a:rPr lang="nb-NO" sz="1000" dirty="0" err="1">
                <a:solidFill>
                  <a:schemeClr val="tx2"/>
                </a:solidFill>
              </a:rPr>
              <a:t>otherwise</a:t>
            </a:r>
            <a:r>
              <a:rPr lang="nb-NO" sz="1000" dirty="0">
                <a:solidFill>
                  <a:schemeClr val="tx2"/>
                </a:solidFill>
              </a:rPr>
              <a:t> </a:t>
            </a:r>
            <a:r>
              <a:rPr lang="nb-NO" sz="1000" dirty="0" err="1">
                <a:solidFill>
                  <a:schemeClr val="tx2"/>
                </a:solidFill>
              </a:rPr>
              <a:t>helpful</a:t>
            </a:r>
            <a:r>
              <a:rPr lang="nb-NO" sz="1000" dirty="0">
                <a:solidFill>
                  <a:schemeClr val="tx2"/>
                </a:solidFill>
              </a:rPr>
              <a:t> </a:t>
            </a:r>
            <a:r>
              <a:rPr lang="nb-NO" sz="1000" dirty="0" err="1">
                <a:solidFill>
                  <a:schemeClr val="tx2"/>
                </a:solidFill>
              </a:rPr>
              <a:t>if</a:t>
            </a:r>
            <a:r>
              <a:rPr lang="nb-NO" sz="1000" dirty="0">
                <a:solidFill>
                  <a:schemeClr val="tx2"/>
                </a:solidFill>
              </a:rPr>
              <a:t> it </a:t>
            </a:r>
            <a:r>
              <a:rPr lang="nb-NO" sz="1000" dirty="0" err="1">
                <a:solidFill>
                  <a:schemeClr val="tx2"/>
                </a:solidFill>
              </a:rPr>
              <a:t>stays</a:t>
            </a:r>
            <a:r>
              <a:rPr lang="nb-NO" sz="1000" dirty="0">
                <a:solidFill>
                  <a:schemeClr val="tx2"/>
                </a:solidFill>
              </a:rPr>
              <a:t> in a </a:t>
            </a:r>
            <a:r>
              <a:rPr lang="nb-NO" sz="1000" dirty="0" err="1">
                <a:solidFill>
                  <a:schemeClr val="tx2"/>
                </a:solidFill>
              </a:rPr>
              <a:t>place</a:t>
            </a:r>
            <a:r>
              <a:rPr lang="nb-NO" sz="1000" dirty="0">
                <a:solidFill>
                  <a:schemeClr val="tx2"/>
                </a:solidFill>
              </a:rPr>
              <a:t> for </a:t>
            </a:r>
            <a:r>
              <a:rPr lang="nb-NO" sz="1000" dirty="0" err="1">
                <a:solidFill>
                  <a:schemeClr val="tx2"/>
                </a:solidFill>
              </a:rPr>
              <a:t>some</a:t>
            </a:r>
            <a:r>
              <a:rPr lang="nb-NO" sz="1000" dirty="0">
                <a:solidFill>
                  <a:schemeClr val="tx2"/>
                </a:solidFill>
              </a:rPr>
              <a:t> time.</a:t>
            </a: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0363D116-F303-10B3-643B-387CB786E5CB}"/>
              </a:ext>
            </a:extLst>
          </p:cNvPr>
          <p:cNvSpPr txBox="1"/>
          <p:nvPr/>
        </p:nvSpPr>
        <p:spPr>
          <a:xfrm>
            <a:off x="8997789" y="4006270"/>
            <a:ext cx="3599727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nb-NO" sz="1000" dirty="0"/>
              <a:t>GNSS data:</a:t>
            </a:r>
          </a:p>
          <a:p>
            <a:pPr marL="285750" indent="-285750" algn="just">
              <a:buFontTx/>
              <a:buChar char="-"/>
            </a:pPr>
            <a:r>
              <a:rPr lang="nb-NO" sz="1000" dirty="0" err="1"/>
              <a:t>Tracks</a:t>
            </a:r>
            <a:r>
              <a:rPr lang="nb-NO" sz="1000" dirty="0"/>
              <a:t> </a:t>
            </a:r>
            <a:r>
              <a:rPr lang="nb-NO" sz="1000" dirty="0" err="1"/>
              <a:t>of</a:t>
            </a:r>
            <a:r>
              <a:rPr lang="nb-NO" sz="1000" dirty="0"/>
              <a:t> </a:t>
            </a:r>
            <a:r>
              <a:rPr lang="nb-NO" sz="1000" dirty="0" err="1"/>
              <a:t>flight</a:t>
            </a:r>
            <a:endParaRPr lang="nb-NO" sz="1000" dirty="0"/>
          </a:p>
          <a:p>
            <a:pPr marL="285750" indent="-285750" algn="just">
              <a:buFontTx/>
              <a:buChar char="-"/>
            </a:pPr>
            <a:r>
              <a:rPr lang="nb-NO" sz="1000" dirty="0"/>
              <a:t> </a:t>
            </a:r>
            <a:r>
              <a:rPr lang="nb-NO" sz="1000" dirty="0" err="1"/>
              <a:t>std</a:t>
            </a:r>
            <a:r>
              <a:rPr lang="nb-NO" sz="1000" dirty="0"/>
              <a:t>: lat 6.3m, lon 5.3m</a:t>
            </a:r>
          </a:p>
          <a:p>
            <a:pPr marL="285750" indent="-285750" algn="just">
              <a:buFontTx/>
              <a:buChar char="-"/>
            </a:pPr>
            <a:r>
              <a:rPr lang="nb-NO" sz="1000" dirty="0"/>
              <a:t>Not </a:t>
            </a:r>
            <a:r>
              <a:rPr lang="nb-NO" sz="1000" dirty="0" err="1"/>
              <a:t>useful</a:t>
            </a:r>
            <a:r>
              <a:rPr lang="nb-NO" sz="1000" dirty="0"/>
              <a:t> for </a:t>
            </a:r>
            <a:r>
              <a:rPr lang="nb-NO" sz="1000" dirty="0" err="1"/>
              <a:t>height</a:t>
            </a:r>
            <a:r>
              <a:rPr lang="nb-NO" sz="1000" dirty="0"/>
              <a:t> as it </a:t>
            </a:r>
            <a:r>
              <a:rPr lang="nb-NO" sz="1000" dirty="0" err="1"/>
              <a:t>clearly</a:t>
            </a:r>
            <a:r>
              <a:rPr lang="nb-NO" sz="1000" dirty="0"/>
              <a:t> </a:t>
            </a:r>
            <a:r>
              <a:rPr lang="nb-NO" sz="1000" dirty="0" err="1"/>
              <a:t>doesn`t</a:t>
            </a:r>
            <a:r>
              <a:rPr lang="nb-NO" sz="1000" dirty="0"/>
              <a:t> </a:t>
            </a:r>
            <a:r>
              <a:rPr lang="nb-NO" sz="1000" dirty="0" err="1"/>
              <a:t>give</a:t>
            </a:r>
            <a:r>
              <a:rPr lang="nb-NO" sz="1000" dirty="0"/>
              <a:t> </a:t>
            </a:r>
            <a:r>
              <a:rPr lang="nb-NO" sz="1000" dirty="0" err="1"/>
              <a:t>the</a:t>
            </a:r>
            <a:r>
              <a:rPr lang="nb-NO" sz="1000" dirty="0"/>
              <a:t> 120m </a:t>
            </a:r>
            <a:r>
              <a:rPr lang="nb-NO" sz="1000" dirty="0" err="1"/>
              <a:t>height</a:t>
            </a:r>
            <a:r>
              <a:rPr lang="nb-NO" sz="1000" dirty="0"/>
              <a:t> </a:t>
            </a:r>
            <a:r>
              <a:rPr lang="nb-NO" sz="1000" dirty="0" err="1"/>
              <a:t>difference</a:t>
            </a:r>
            <a:r>
              <a:rPr lang="nb-NO" sz="1000" dirty="0"/>
              <a:t> during </a:t>
            </a:r>
            <a:r>
              <a:rPr lang="nb-NO" sz="1000" dirty="0" err="1"/>
              <a:t>the</a:t>
            </a:r>
            <a:r>
              <a:rPr lang="nb-NO" sz="1000" dirty="0"/>
              <a:t> </a:t>
            </a:r>
            <a:r>
              <a:rPr lang="nb-NO" sz="1000" dirty="0" err="1"/>
              <a:t>flight</a:t>
            </a:r>
            <a:endParaRPr lang="nb-NO" sz="1000" dirty="0"/>
          </a:p>
          <a:p>
            <a:pPr marL="285750" indent="-285750" algn="just">
              <a:buFontTx/>
              <a:buChar char="-"/>
            </a:pPr>
            <a:r>
              <a:rPr lang="nb-NO" sz="1000" dirty="0" err="1"/>
              <a:t>Can</a:t>
            </a:r>
            <a:r>
              <a:rPr lang="nb-NO" sz="1000" dirty="0"/>
              <a:t> </a:t>
            </a:r>
            <a:r>
              <a:rPr lang="nb-NO" sz="1000" dirty="0" err="1"/>
              <a:t>derive</a:t>
            </a:r>
            <a:r>
              <a:rPr lang="nb-NO" sz="1000" dirty="0"/>
              <a:t> </a:t>
            </a:r>
            <a:r>
              <a:rPr lang="nb-NO" sz="1000" dirty="0" err="1"/>
              <a:t>wind</a:t>
            </a:r>
            <a:r>
              <a:rPr lang="nb-NO" sz="1000" dirty="0"/>
              <a:t> </a:t>
            </a:r>
            <a:r>
              <a:rPr lang="nb-NO" sz="1000" dirty="0" err="1"/>
              <a:t>direction</a:t>
            </a:r>
            <a:r>
              <a:rPr lang="nb-NO" sz="1000" dirty="0"/>
              <a:t> and speed</a:t>
            </a:r>
          </a:p>
        </p:txBody>
      </p:sp>
      <p:sp>
        <p:nvSpPr>
          <p:cNvPr id="13" name="TekstSylinder 12">
            <a:extLst>
              <a:ext uri="{FF2B5EF4-FFF2-40B4-BE49-F238E27FC236}">
                <a16:creationId xmlns:a16="http://schemas.microsoft.com/office/drawing/2014/main" id="{004C3D6F-7807-302D-AA01-3708D5A1EFC3}"/>
              </a:ext>
            </a:extLst>
          </p:cNvPr>
          <p:cNvSpPr txBox="1"/>
          <p:nvPr/>
        </p:nvSpPr>
        <p:spPr>
          <a:xfrm>
            <a:off x="5427197" y="2369122"/>
            <a:ext cx="3382443" cy="251607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nb-NO" sz="1000" dirty="0" err="1"/>
              <a:t>Humidity</a:t>
            </a:r>
            <a:r>
              <a:rPr lang="nb-NO" sz="1000" dirty="0"/>
              <a:t>:</a:t>
            </a:r>
          </a:p>
          <a:p>
            <a:pPr algn="just"/>
            <a:r>
              <a:rPr lang="nb-NO" sz="1000" dirty="0"/>
              <a:t>As </a:t>
            </a:r>
            <a:r>
              <a:rPr lang="nb-NO" sz="1000" dirty="0" err="1"/>
              <a:t>mentioned</a:t>
            </a:r>
            <a:r>
              <a:rPr lang="nb-NO" sz="1000" dirty="0"/>
              <a:t> </a:t>
            </a:r>
            <a:r>
              <a:rPr lang="nb-NO" sz="1000" dirty="0" err="1"/>
              <a:t>too</a:t>
            </a:r>
            <a:r>
              <a:rPr lang="nb-NO" sz="1000" dirty="0"/>
              <a:t> </a:t>
            </a:r>
            <a:r>
              <a:rPr lang="nb-NO" sz="1000" dirty="0" err="1"/>
              <a:t>slow</a:t>
            </a:r>
            <a:r>
              <a:rPr lang="nb-NO" sz="1000" dirty="0"/>
              <a:t>, </a:t>
            </a:r>
            <a:r>
              <a:rPr lang="nb-NO" sz="1000" dirty="0" err="1"/>
              <a:t>here</a:t>
            </a:r>
            <a:r>
              <a:rPr lang="nb-NO" sz="1000" dirty="0"/>
              <a:t> </a:t>
            </a:r>
            <a:r>
              <a:rPr lang="nb-NO" sz="1000" dirty="0" err="1"/>
              <a:t>are</a:t>
            </a:r>
            <a:r>
              <a:rPr lang="nb-NO" sz="1000" dirty="0"/>
              <a:t> </a:t>
            </a:r>
            <a:r>
              <a:rPr lang="nb-NO" sz="1000" dirty="0" err="1"/>
              <a:t>the</a:t>
            </a:r>
            <a:r>
              <a:rPr lang="nb-NO" sz="1000" dirty="0"/>
              <a:t> plots</a:t>
            </a:r>
            <a:br>
              <a:rPr lang="nb-NO" sz="1000" dirty="0"/>
            </a:br>
            <a:r>
              <a:rPr lang="nb-NO" sz="1000" dirty="0" err="1"/>
              <a:t>which</a:t>
            </a:r>
            <a:r>
              <a:rPr lang="nb-NO" sz="1000" dirty="0"/>
              <a:t> </a:t>
            </a:r>
            <a:r>
              <a:rPr lang="nb-NO" sz="1000" dirty="0" err="1"/>
              <a:t>are</a:t>
            </a:r>
            <a:r>
              <a:rPr lang="nb-NO" sz="1000" dirty="0"/>
              <a:t> </a:t>
            </a:r>
            <a:r>
              <a:rPr lang="nb-NO" sz="1000" dirty="0" err="1"/>
              <a:t>basically</a:t>
            </a:r>
            <a:r>
              <a:rPr lang="nb-NO" sz="1000" dirty="0"/>
              <a:t> </a:t>
            </a:r>
            <a:r>
              <a:rPr lang="nb-NO" sz="1000" dirty="0" err="1"/>
              <a:t>constant</a:t>
            </a:r>
            <a:endParaRPr lang="nb-NO" sz="1000" dirty="0"/>
          </a:p>
          <a:p>
            <a:pPr algn="just"/>
            <a:endParaRPr lang="nb-NO" sz="1400" dirty="0"/>
          </a:p>
          <a:p>
            <a:pPr algn="just"/>
            <a:endParaRPr lang="nb-NO" sz="1400" dirty="0"/>
          </a:p>
          <a:p>
            <a:pPr algn="just"/>
            <a:endParaRPr lang="nb-NO" sz="1400" dirty="0"/>
          </a:p>
          <a:p>
            <a:pPr algn="just"/>
            <a:endParaRPr lang="nb-NO" sz="1400" dirty="0"/>
          </a:p>
          <a:p>
            <a:pPr algn="just"/>
            <a:endParaRPr lang="nb-NO" sz="1400" dirty="0"/>
          </a:p>
          <a:p>
            <a:pPr algn="just"/>
            <a:endParaRPr lang="nb-NO" sz="1400" dirty="0"/>
          </a:p>
          <a:p>
            <a:pPr algn="just"/>
            <a:endParaRPr lang="nb-NO" sz="1400" dirty="0"/>
          </a:p>
          <a:p>
            <a:pPr algn="just"/>
            <a:endParaRPr lang="nb-NO" sz="1400" dirty="0"/>
          </a:p>
          <a:p>
            <a:pPr algn="just"/>
            <a:endParaRPr lang="nb-NO" sz="1400" dirty="0"/>
          </a:p>
        </p:txBody>
      </p:sp>
      <p:sp>
        <p:nvSpPr>
          <p:cNvPr id="14" name="TekstSylinder 13">
            <a:extLst>
              <a:ext uri="{FF2B5EF4-FFF2-40B4-BE49-F238E27FC236}">
                <a16:creationId xmlns:a16="http://schemas.microsoft.com/office/drawing/2014/main" id="{7C019583-5870-203B-0841-A86FFCE7EA29}"/>
              </a:ext>
            </a:extLst>
          </p:cNvPr>
          <p:cNvSpPr txBox="1"/>
          <p:nvPr/>
        </p:nvSpPr>
        <p:spPr>
          <a:xfrm>
            <a:off x="8954278" y="987585"/>
            <a:ext cx="3669521" cy="738664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txBody>
          <a:bodyPr wrap="square" rtlCol="0">
            <a:spAutoFit/>
          </a:bodyPr>
          <a:lstStyle/>
          <a:p>
            <a:pPr algn="just"/>
            <a:r>
              <a:rPr lang="nb-NO" sz="1050" dirty="0" err="1"/>
              <a:t>Pressure</a:t>
            </a:r>
            <a:r>
              <a:rPr lang="nb-NO" sz="1050" dirty="0"/>
              <a:t>: </a:t>
            </a:r>
            <a:r>
              <a:rPr lang="nb-NO" sz="1050" dirty="0" err="1"/>
              <a:t>quite</a:t>
            </a:r>
            <a:r>
              <a:rPr lang="nb-NO" sz="1050" dirty="0"/>
              <a:t> </a:t>
            </a:r>
            <a:r>
              <a:rPr lang="nb-NO" sz="1050" dirty="0" err="1"/>
              <a:t>useful</a:t>
            </a:r>
            <a:r>
              <a:rPr lang="nb-NO" sz="1050" dirty="0"/>
              <a:t>, </a:t>
            </a:r>
            <a:r>
              <a:rPr lang="nb-NO" sz="1050" dirty="0" err="1"/>
              <a:t>can</a:t>
            </a:r>
            <a:r>
              <a:rPr lang="nb-NO" sz="1050" dirty="0"/>
              <a:t> be used to </a:t>
            </a:r>
            <a:r>
              <a:rPr lang="nb-NO" sz="1050" dirty="0" err="1"/>
              <a:t>calculate</a:t>
            </a:r>
            <a:r>
              <a:rPr lang="nb-NO" sz="1050" dirty="0"/>
              <a:t> </a:t>
            </a:r>
            <a:r>
              <a:rPr lang="nb-NO" sz="1050" dirty="0" err="1"/>
              <a:t>the</a:t>
            </a:r>
            <a:r>
              <a:rPr lang="nb-NO" sz="1050" dirty="0"/>
              <a:t> </a:t>
            </a:r>
            <a:r>
              <a:rPr lang="nb-NO" sz="1050" dirty="0" err="1"/>
              <a:t>height</a:t>
            </a:r>
            <a:r>
              <a:rPr lang="nb-NO" sz="1050" dirty="0"/>
              <a:t>. The </a:t>
            </a:r>
            <a:r>
              <a:rPr lang="nb-NO" sz="1050" dirty="0" err="1"/>
              <a:t>drop</a:t>
            </a:r>
            <a:r>
              <a:rPr lang="nb-NO" sz="1050" dirty="0"/>
              <a:t> </a:t>
            </a:r>
            <a:r>
              <a:rPr lang="nb-NO" sz="1050" dirty="0" err="1"/>
              <a:t>of</a:t>
            </a:r>
            <a:r>
              <a:rPr lang="nb-NO" sz="1050" dirty="0"/>
              <a:t> </a:t>
            </a:r>
            <a:r>
              <a:rPr lang="nb-NO" sz="1050" dirty="0" err="1"/>
              <a:t>the</a:t>
            </a:r>
            <a:r>
              <a:rPr lang="nb-NO" sz="1050" dirty="0"/>
              <a:t> </a:t>
            </a:r>
            <a:r>
              <a:rPr lang="nb-NO" sz="1050" dirty="0" err="1"/>
              <a:t>Sat</a:t>
            </a:r>
            <a:r>
              <a:rPr lang="nb-NO" sz="1050" dirty="0"/>
              <a:t> is </a:t>
            </a:r>
            <a:r>
              <a:rPr lang="nb-NO" sz="1050" dirty="0" err="1"/>
              <a:t>clearly</a:t>
            </a:r>
            <a:r>
              <a:rPr lang="nb-NO" sz="1050" dirty="0"/>
              <a:t> visible, </a:t>
            </a:r>
            <a:r>
              <a:rPr lang="nb-NO" sz="1050" dirty="0" err="1"/>
              <a:t>therfore</a:t>
            </a:r>
            <a:r>
              <a:rPr lang="nb-NO" sz="1050" dirty="0"/>
              <a:t> I used </a:t>
            </a:r>
            <a:r>
              <a:rPr lang="nb-NO" sz="1050" dirty="0" err="1"/>
              <a:t>this</a:t>
            </a:r>
            <a:r>
              <a:rPr lang="nb-NO" sz="1050" dirty="0"/>
              <a:t> to </a:t>
            </a:r>
            <a:r>
              <a:rPr lang="nb-NO" sz="1050" dirty="0" err="1"/>
              <a:t>define</a:t>
            </a:r>
            <a:r>
              <a:rPr lang="nb-NO" sz="1050" dirty="0"/>
              <a:t> </a:t>
            </a:r>
            <a:r>
              <a:rPr lang="nb-NO" sz="1050" dirty="0" err="1"/>
              <a:t>the</a:t>
            </a:r>
            <a:r>
              <a:rPr lang="nb-NO" sz="1050" dirty="0"/>
              <a:t> </a:t>
            </a:r>
            <a:r>
              <a:rPr lang="nb-NO" sz="1050" dirty="0" err="1"/>
              <a:t>point</a:t>
            </a:r>
            <a:r>
              <a:rPr lang="nb-NO" sz="1050" dirty="0"/>
              <a:t> </a:t>
            </a:r>
            <a:r>
              <a:rPr lang="nb-NO" sz="1050" dirty="0" err="1"/>
              <a:t>of</a:t>
            </a:r>
            <a:r>
              <a:rPr lang="nb-NO" sz="1050" dirty="0"/>
              <a:t> </a:t>
            </a:r>
            <a:r>
              <a:rPr lang="nb-NO" sz="1050" dirty="0" err="1"/>
              <a:t>the</a:t>
            </a:r>
            <a:r>
              <a:rPr lang="nb-NO" sz="1050" dirty="0"/>
              <a:t> </a:t>
            </a:r>
            <a:r>
              <a:rPr lang="nb-NO" sz="1050" dirty="0" err="1"/>
              <a:t>drop</a:t>
            </a:r>
            <a:r>
              <a:rPr lang="nb-NO" sz="1050" dirty="0"/>
              <a:t> in all </a:t>
            </a:r>
            <a:r>
              <a:rPr lang="nb-NO" sz="1050" dirty="0" err="1"/>
              <a:t>the</a:t>
            </a:r>
            <a:r>
              <a:rPr lang="nb-NO" sz="1050" dirty="0"/>
              <a:t> data!</a:t>
            </a:r>
          </a:p>
          <a:p>
            <a:pPr algn="just"/>
            <a:r>
              <a:rPr lang="nb-NO" sz="1050" dirty="0"/>
              <a:t>- </a:t>
            </a:r>
            <a:r>
              <a:rPr lang="nb-NO" sz="1050" dirty="0" err="1"/>
              <a:t>Formula</a:t>
            </a:r>
            <a:r>
              <a:rPr lang="nb-NO" sz="1050" dirty="0"/>
              <a:t> to </a:t>
            </a:r>
            <a:r>
              <a:rPr lang="nb-NO" sz="1050" dirty="0" err="1"/>
              <a:t>calculate</a:t>
            </a:r>
            <a:r>
              <a:rPr lang="nb-NO" sz="1050" dirty="0"/>
              <a:t> </a:t>
            </a:r>
            <a:r>
              <a:rPr lang="nb-NO" sz="1050" dirty="0" err="1"/>
              <a:t>height</a:t>
            </a:r>
            <a:r>
              <a:rPr lang="nb-NO" sz="1050" dirty="0"/>
              <a:t> from </a:t>
            </a:r>
            <a:r>
              <a:rPr lang="nb-NO" sz="1050" dirty="0" err="1"/>
              <a:t>pressure</a:t>
            </a:r>
            <a:r>
              <a:rPr lang="nb-NO" sz="1050" dirty="0"/>
              <a:t>: … </a:t>
            </a:r>
            <a:r>
              <a:rPr lang="nb-NO" sz="1050" dirty="0" err="1"/>
              <a:t>assumptions</a:t>
            </a:r>
            <a:r>
              <a:rPr lang="nb-NO" sz="1050" dirty="0"/>
              <a:t>!</a:t>
            </a:r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FED025FC-F876-77BB-FBA9-1D49CC9E6D40}"/>
              </a:ext>
            </a:extLst>
          </p:cNvPr>
          <p:cNvSpPr txBox="1"/>
          <p:nvPr/>
        </p:nvSpPr>
        <p:spPr>
          <a:xfrm>
            <a:off x="201613" y="2633652"/>
            <a:ext cx="3067051" cy="42165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nb-NO" sz="1000" dirty="0"/>
              <a:t>NTC </a:t>
            </a:r>
            <a:r>
              <a:rPr lang="nb-NO" sz="1000" dirty="0" err="1"/>
              <a:t>calibration</a:t>
            </a:r>
            <a:r>
              <a:rPr lang="nb-NO" sz="1000" dirty="0"/>
              <a:t>: </a:t>
            </a:r>
            <a:r>
              <a:rPr lang="nb-NO" sz="1000" dirty="0" err="1"/>
              <a:t>get</a:t>
            </a:r>
            <a:r>
              <a:rPr lang="nb-NO" sz="1000" dirty="0"/>
              <a:t> </a:t>
            </a:r>
            <a:r>
              <a:rPr lang="nb-NO" sz="1000" dirty="0" err="1"/>
              <a:t>the</a:t>
            </a:r>
            <a:r>
              <a:rPr lang="nb-NO" sz="1000" dirty="0"/>
              <a:t> </a:t>
            </a:r>
            <a:r>
              <a:rPr lang="nb-NO" sz="1000" dirty="0" err="1"/>
              <a:t>temperature</a:t>
            </a:r>
            <a:r>
              <a:rPr lang="nb-NO" sz="1000" dirty="0"/>
              <a:t> from </a:t>
            </a:r>
            <a:r>
              <a:rPr lang="nb-NO" sz="1000" dirty="0" err="1"/>
              <a:t>the</a:t>
            </a:r>
            <a:r>
              <a:rPr lang="nb-NO" sz="1000" dirty="0"/>
              <a:t> NTC </a:t>
            </a:r>
            <a:r>
              <a:rPr lang="nb-NO" sz="1000" dirty="0" err="1"/>
              <a:t>value</a:t>
            </a:r>
            <a:r>
              <a:rPr lang="nb-NO" sz="1000" dirty="0"/>
              <a:t> by taking </a:t>
            </a:r>
            <a:r>
              <a:rPr lang="nb-NO" sz="1000" dirty="0" err="1"/>
              <a:t>many</a:t>
            </a:r>
            <a:r>
              <a:rPr lang="nb-NO" sz="1000" dirty="0"/>
              <a:t> </a:t>
            </a:r>
            <a:r>
              <a:rPr lang="nb-NO" sz="1000" dirty="0" err="1"/>
              <a:t>reference</a:t>
            </a:r>
            <a:r>
              <a:rPr lang="nb-NO" sz="1000" dirty="0"/>
              <a:t> </a:t>
            </a:r>
            <a:r>
              <a:rPr lang="nb-NO" sz="1000" dirty="0" err="1"/>
              <a:t>measurements</a:t>
            </a:r>
            <a:r>
              <a:rPr lang="nb-NO" sz="1000" dirty="0"/>
              <a:t> and </a:t>
            </a:r>
            <a:r>
              <a:rPr lang="nb-NO" sz="1000" dirty="0" err="1"/>
              <a:t>fit</a:t>
            </a:r>
            <a:r>
              <a:rPr lang="nb-NO" sz="1000" dirty="0"/>
              <a:t> a </a:t>
            </a:r>
            <a:r>
              <a:rPr lang="nb-NO" sz="1000" dirty="0" err="1"/>
              <a:t>curve</a:t>
            </a:r>
            <a:r>
              <a:rPr lang="nb-NO" sz="1000" dirty="0"/>
              <a:t> (linear):</a:t>
            </a:r>
          </a:p>
          <a:p>
            <a:pPr algn="just"/>
            <a:endParaRPr lang="nb-NO" sz="1000" dirty="0"/>
          </a:p>
          <a:p>
            <a:pPr algn="just"/>
            <a:endParaRPr lang="nb-NO" sz="1000" dirty="0"/>
          </a:p>
          <a:p>
            <a:pPr algn="just"/>
            <a:endParaRPr lang="nb-NO" sz="1000" dirty="0"/>
          </a:p>
          <a:p>
            <a:pPr algn="just"/>
            <a:endParaRPr lang="nb-NO" sz="1100" dirty="0"/>
          </a:p>
          <a:p>
            <a:pPr algn="just"/>
            <a:endParaRPr lang="nb-NO" sz="1100" dirty="0"/>
          </a:p>
          <a:p>
            <a:pPr algn="just"/>
            <a:endParaRPr lang="nb-NO" sz="1100" dirty="0"/>
          </a:p>
          <a:p>
            <a:pPr algn="just"/>
            <a:endParaRPr lang="nb-NO" sz="1100" dirty="0"/>
          </a:p>
          <a:p>
            <a:pPr algn="just"/>
            <a:endParaRPr lang="nb-NO" sz="1100" dirty="0"/>
          </a:p>
          <a:p>
            <a:pPr algn="just"/>
            <a:endParaRPr lang="nb-NO" sz="1100" dirty="0"/>
          </a:p>
          <a:p>
            <a:pPr algn="just"/>
            <a:endParaRPr lang="nb-NO" sz="1100" dirty="0"/>
          </a:p>
          <a:p>
            <a:pPr algn="just"/>
            <a:endParaRPr lang="nb-NO" sz="1100" dirty="0"/>
          </a:p>
          <a:p>
            <a:pPr marL="285750" indent="-285750" algn="just">
              <a:buFontTx/>
              <a:buChar char="-"/>
            </a:pPr>
            <a:r>
              <a:rPr lang="nb-NO" sz="1000" dirty="0" err="1"/>
              <a:t>Formula</a:t>
            </a:r>
            <a:r>
              <a:rPr lang="nb-NO" sz="1000" dirty="0"/>
              <a:t> to </a:t>
            </a:r>
            <a:r>
              <a:rPr lang="nb-NO" sz="1000" dirty="0" err="1"/>
              <a:t>calculate</a:t>
            </a:r>
            <a:r>
              <a:rPr lang="nb-NO" sz="1000" dirty="0"/>
              <a:t> </a:t>
            </a:r>
            <a:r>
              <a:rPr lang="nb-NO" sz="1000" dirty="0" err="1"/>
              <a:t>the</a:t>
            </a:r>
            <a:r>
              <a:rPr lang="nb-NO" sz="1000" dirty="0"/>
              <a:t> </a:t>
            </a:r>
            <a:r>
              <a:rPr lang="nb-NO" sz="1000" dirty="0" err="1"/>
              <a:t>temperature</a:t>
            </a:r>
            <a:r>
              <a:rPr lang="nb-NO" sz="1000" dirty="0"/>
              <a:t> from </a:t>
            </a:r>
            <a:r>
              <a:rPr lang="nb-NO" sz="1000" dirty="0" err="1"/>
              <a:t>the</a:t>
            </a:r>
            <a:r>
              <a:rPr lang="nb-NO" sz="1000" dirty="0"/>
              <a:t> NTC </a:t>
            </a:r>
            <a:r>
              <a:rPr lang="nb-NO" sz="1000" dirty="0" err="1"/>
              <a:t>value</a:t>
            </a:r>
            <a:r>
              <a:rPr lang="nb-NO" sz="1000" dirty="0"/>
              <a:t>:</a:t>
            </a:r>
          </a:p>
          <a:p>
            <a:pPr algn="just"/>
            <a:r>
              <a:rPr lang="nb-NO" sz="1000" dirty="0"/>
              <a:t>	T = -0.02217*NTC+39.9886 </a:t>
            </a:r>
          </a:p>
          <a:p>
            <a:pPr marL="285750" indent="-285750" algn="just">
              <a:buFontTx/>
              <a:buChar char="-"/>
            </a:pPr>
            <a:r>
              <a:rPr lang="nb-NO" sz="1000" dirty="0" err="1"/>
              <a:t>Uncertainty</a:t>
            </a:r>
            <a:r>
              <a:rPr lang="nb-NO" sz="1000" dirty="0"/>
              <a:t>: </a:t>
            </a:r>
          </a:p>
          <a:p>
            <a:pPr marL="285750" indent="-285750" algn="just">
              <a:buFontTx/>
              <a:buChar char="-"/>
            </a:pPr>
            <a:r>
              <a:rPr lang="nb-NO" sz="1000" dirty="0"/>
              <a:t>The </a:t>
            </a:r>
            <a:r>
              <a:rPr lang="nb-NO" sz="1000" dirty="0" err="1"/>
              <a:t>temperature</a:t>
            </a:r>
            <a:r>
              <a:rPr lang="nb-NO" sz="1000" dirty="0"/>
              <a:t> range for </a:t>
            </a:r>
            <a:r>
              <a:rPr lang="nb-NO" sz="1000" dirty="0" err="1"/>
              <a:t>the</a:t>
            </a:r>
            <a:r>
              <a:rPr lang="nb-NO" sz="1000" dirty="0"/>
              <a:t> </a:t>
            </a:r>
            <a:r>
              <a:rPr lang="nb-NO" sz="1000" dirty="0" err="1"/>
              <a:t>flights</a:t>
            </a:r>
            <a:r>
              <a:rPr lang="nb-NO" sz="1000" dirty="0"/>
              <a:t> makes </a:t>
            </a:r>
            <a:r>
              <a:rPr lang="nb-NO" sz="1000" dirty="0" err="1"/>
              <a:t>sense</a:t>
            </a:r>
            <a:r>
              <a:rPr lang="nb-NO" sz="1000" dirty="0"/>
              <a:t> (</a:t>
            </a:r>
            <a:r>
              <a:rPr lang="nb-NO" sz="1000" dirty="0" err="1"/>
              <a:t>between</a:t>
            </a:r>
            <a:r>
              <a:rPr lang="nb-NO" sz="1000" dirty="0"/>
              <a:t> -1.5 and 1 </a:t>
            </a:r>
            <a:r>
              <a:rPr lang="nb-NO" sz="1000" dirty="0" err="1"/>
              <a:t>degree</a:t>
            </a:r>
            <a:r>
              <a:rPr lang="nb-NO" sz="1000" dirty="0"/>
              <a:t> Celsius), </a:t>
            </a:r>
            <a:r>
              <a:rPr lang="nb-NO" sz="1000" dirty="0" err="1"/>
              <a:t>even</a:t>
            </a:r>
            <a:r>
              <a:rPr lang="nb-NO" sz="1000" dirty="0"/>
              <a:t> </a:t>
            </a:r>
            <a:r>
              <a:rPr lang="nb-NO" sz="1000" dirty="0" err="1"/>
              <a:t>though</a:t>
            </a:r>
            <a:r>
              <a:rPr lang="nb-NO" sz="1000" dirty="0"/>
              <a:t> it is not </a:t>
            </a:r>
            <a:r>
              <a:rPr lang="nb-NO" sz="1000" dirty="0" err="1"/>
              <a:t>very</a:t>
            </a:r>
            <a:r>
              <a:rPr lang="nb-NO" sz="1000" dirty="0"/>
              <a:t> </a:t>
            </a:r>
            <a:r>
              <a:rPr lang="nb-NO" sz="1000" dirty="0" err="1"/>
              <a:t>usefull</a:t>
            </a:r>
            <a:r>
              <a:rPr lang="nb-NO" sz="1000" dirty="0"/>
              <a:t> during </a:t>
            </a:r>
            <a:r>
              <a:rPr lang="nb-NO" sz="1000" dirty="0" err="1"/>
              <a:t>the</a:t>
            </a:r>
            <a:r>
              <a:rPr lang="nb-NO" sz="1000" dirty="0"/>
              <a:t> </a:t>
            </a:r>
            <a:r>
              <a:rPr lang="nb-NO" sz="1000" dirty="0" err="1"/>
              <a:t>flight</a:t>
            </a:r>
            <a:r>
              <a:rPr lang="nb-NO" sz="1000" dirty="0"/>
              <a:t> </a:t>
            </a:r>
            <a:r>
              <a:rPr lang="nb-NO" sz="1000" dirty="0" err="1"/>
              <a:t>bc</a:t>
            </a:r>
            <a:r>
              <a:rPr lang="nb-NO" sz="1000" dirty="0"/>
              <a:t> </a:t>
            </a:r>
            <a:r>
              <a:rPr lang="nb-NO" sz="1000" dirty="0" err="1"/>
              <a:t>of</a:t>
            </a:r>
            <a:r>
              <a:rPr lang="nb-NO" sz="1000" dirty="0"/>
              <a:t> </a:t>
            </a:r>
            <a:r>
              <a:rPr lang="nb-NO" sz="1000" dirty="0" err="1"/>
              <a:t>the</a:t>
            </a:r>
            <a:r>
              <a:rPr lang="nb-NO" sz="1000" dirty="0"/>
              <a:t> time </a:t>
            </a:r>
            <a:r>
              <a:rPr lang="nb-NO" sz="1000" dirty="0" err="1"/>
              <a:t>constant</a:t>
            </a:r>
            <a:endParaRPr lang="nb-NO" sz="1000" dirty="0"/>
          </a:p>
          <a:p>
            <a:pPr marL="285750" indent="-285750" algn="just">
              <a:buFontTx/>
              <a:buChar char="-"/>
            </a:pPr>
            <a:r>
              <a:rPr lang="nb-NO" sz="1000" dirty="0" err="1"/>
              <a:t>Also</a:t>
            </a:r>
            <a:r>
              <a:rPr lang="nb-NO" sz="1000" dirty="0"/>
              <a:t> </a:t>
            </a:r>
            <a:r>
              <a:rPr lang="nb-NO" sz="1000" dirty="0" err="1"/>
              <a:t>temperature</a:t>
            </a:r>
            <a:r>
              <a:rPr lang="nb-NO" sz="1000" dirty="0"/>
              <a:t> </a:t>
            </a:r>
            <a:r>
              <a:rPr lang="nb-NO" sz="1000" dirty="0" err="1"/>
              <a:t>doesnt</a:t>
            </a:r>
            <a:r>
              <a:rPr lang="nb-NO" sz="1000" dirty="0"/>
              <a:t> </a:t>
            </a:r>
            <a:r>
              <a:rPr lang="nb-NO" sz="1000" dirty="0" err="1"/>
              <a:t>change</a:t>
            </a:r>
            <a:r>
              <a:rPr lang="nb-NO" sz="1000" dirty="0"/>
              <a:t> a lot in 120m </a:t>
            </a:r>
            <a:r>
              <a:rPr lang="nb-NO" sz="1000" dirty="0" err="1"/>
              <a:t>acording</a:t>
            </a:r>
            <a:r>
              <a:rPr lang="nb-NO" sz="1000" dirty="0"/>
              <a:t> to standard </a:t>
            </a:r>
            <a:r>
              <a:rPr lang="nb-NO" sz="1000" dirty="0" err="1"/>
              <a:t>atmosphere</a:t>
            </a:r>
            <a:r>
              <a:rPr lang="nb-NO" sz="1000" dirty="0"/>
              <a:t> </a:t>
            </a:r>
            <a:r>
              <a:rPr lang="nb-NO" sz="1000" dirty="0" err="1"/>
              <a:t>model</a:t>
            </a:r>
            <a:r>
              <a:rPr lang="nb-NO" sz="1000" dirty="0"/>
              <a:t> (lapse rate </a:t>
            </a:r>
            <a:r>
              <a:rPr lang="nb-NO" sz="1000" dirty="0" err="1"/>
              <a:t>of</a:t>
            </a:r>
            <a:r>
              <a:rPr lang="nb-NO" sz="1000" dirty="0"/>
              <a:t> -6.5K/km or so?)</a:t>
            </a:r>
          </a:p>
        </p:txBody>
      </p:sp>
      <p:sp>
        <p:nvSpPr>
          <p:cNvPr id="16" name="TekstSylinder 15">
            <a:extLst>
              <a:ext uri="{FF2B5EF4-FFF2-40B4-BE49-F238E27FC236}">
                <a16:creationId xmlns:a16="http://schemas.microsoft.com/office/drawing/2014/main" id="{3C3C439D-072E-072C-6DAE-4E148A545DF4}"/>
              </a:ext>
            </a:extLst>
          </p:cNvPr>
          <p:cNvSpPr txBox="1"/>
          <p:nvPr/>
        </p:nvSpPr>
        <p:spPr>
          <a:xfrm>
            <a:off x="9169401" y="7490119"/>
            <a:ext cx="3467100" cy="86177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nb-NO" sz="1000" dirty="0"/>
              <a:t>Pitch, </a:t>
            </a:r>
            <a:r>
              <a:rPr lang="nb-NO" sz="1000" dirty="0" err="1"/>
              <a:t>yaw</a:t>
            </a:r>
            <a:r>
              <a:rPr lang="nb-NO" sz="1000" dirty="0"/>
              <a:t> and roll: </a:t>
            </a:r>
          </a:p>
          <a:p>
            <a:pPr algn="just"/>
            <a:r>
              <a:rPr lang="nb-NO" sz="1000" dirty="0"/>
              <a:t>- Our </a:t>
            </a:r>
            <a:r>
              <a:rPr lang="nb-NO" sz="1000" dirty="0" err="1"/>
              <a:t>flights</a:t>
            </a:r>
            <a:r>
              <a:rPr lang="nb-NO" sz="1000" dirty="0"/>
              <a:t> </a:t>
            </a:r>
            <a:r>
              <a:rPr lang="nb-NO" sz="1000" dirty="0" err="1"/>
              <a:t>were</a:t>
            </a:r>
            <a:r>
              <a:rPr lang="nb-NO" sz="1000" dirty="0"/>
              <a:t> </a:t>
            </a:r>
            <a:r>
              <a:rPr lang="nb-NO" sz="1000" dirty="0" err="1"/>
              <a:t>quite</a:t>
            </a:r>
            <a:r>
              <a:rPr lang="nb-NO" sz="1000" dirty="0"/>
              <a:t> stable, </a:t>
            </a:r>
            <a:r>
              <a:rPr lang="nb-NO" sz="1000" dirty="0" err="1"/>
              <a:t>even</a:t>
            </a:r>
            <a:r>
              <a:rPr lang="nb-NO" sz="1000" dirty="0"/>
              <a:t> </a:t>
            </a:r>
            <a:r>
              <a:rPr lang="nb-NO" sz="1000" dirty="0" err="1"/>
              <a:t>though</a:t>
            </a:r>
            <a:r>
              <a:rPr lang="nb-NO" sz="1000" dirty="0"/>
              <a:t> </a:t>
            </a:r>
            <a:r>
              <a:rPr lang="nb-NO" sz="1000" dirty="0" err="1"/>
              <a:t>the</a:t>
            </a:r>
            <a:r>
              <a:rPr lang="nb-NO" sz="1000" dirty="0"/>
              <a:t> plots </a:t>
            </a:r>
            <a:r>
              <a:rPr lang="nb-NO" sz="1000" dirty="0" err="1"/>
              <a:t>of</a:t>
            </a:r>
            <a:r>
              <a:rPr lang="nb-NO" sz="1000" dirty="0"/>
              <a:t> </a:t>
            </a:r>
            <a:r>
              <a:rPr lang="nb-NO" sz="1000" dirty="0" err="1"/>
              <a:t>the</a:t>
            </a:r>
            <a:r>
              <a:rPr lang="nb-NO" sz="1000" dirty="0"/>
              <a:t> </a:t>
            </a:r>
            <a:r>
              <a:rPr lang="nb-NO" sz="1000" dirty="0" err="1"/>
              <a:t>above</a:t>
            </a:r>
            <a:r>
              <a:rPr lang="nb-NO" sz="1000" dirty="0"/>
              <a:t> </a:t>
            </a:r>
            <a:r>
              <a:rPr lang="nb-NO" sz="1000" dirty="0" err="1"/>
              <a:t>are</a:t>
            </a:r>
            <a:r>
              <a:rPr lang="nb-NO" sz="1000" dirty="0"/>
              <a:t> more </a:t>
            </a:r>
            <a:r>
              <a:rPr lang="nb-NO" sz="1000" dirty="0" err="1"/>
              <a:t>chaotic</a:t>
            </a:r>
            <a:r>
              <a:rPr lang="nb-NO" sz="1000" dirty="0"/>
              <a:t>. This is due to </a:t>
            </a:r>
            <a:r>
              <a:rPr lang="nb-NO" sz="1000" dirty="0" err="1"/>
              <a:t>the</a:t>
            </a:r>
            <a:r>
              <a:rPr lang="nb-NO" sz="1000" dirty="0"/>
              <a:t> </a:t>
            </a:r>
            <a:r>
              <a:rPr lang="nb-NO" sz="1000" dirty="0" err="1"/>
              <a:t>position</a:t>
            </a:r>
            <a:r>
              <a:rPr lang="nb-NO" sz="1000" dirty="0"/>
              <a:t> </a:t>
            </a:r>
            <a:r>
              <a:rPr lang="nb-NO" sz="1000" dirty="0" err="1"/>
              <a:t>of</a:t>
            </a:r>
            <a:r>
              <a:rPr lang="nb-NO" sz="1000" dirty="0"/>
              <a:t> </a:t>
            </a:r>
            <a:r>
              <a:rPr lang="nb-NO" sz="1000" dirty="0" err="1"/>
              <a:t>the</a:t>
            </a:r>
            <a:r>
              <a:rPr lang="nb-NO" sz="1000" dirty="0"/>
              <a:t> </a:t>
            </a:r>
            <a:r>
              <a:rPr lang="nb-NO" sz="1000" dirty="0" err="1"/>
              <a:t>can</a:t>
            </a:r>
            <a:r>
              <a:rPr lang="nb-NO" sz="1000" dirty="0"/>
              <a:t> during </a:t>
            </a:r>
            <a:r>
              <a:rPr lang="nb-NO" sz="1000" dirty="0" err="1"/>
              <a:t>flight</a:t>
            </a:r>
            <a:r>
              <a:rPr lang="nb-NO" sz="1000" dirty="0"/>
              <a:t> and </a:t>
            </a:r>
            <a:r>
              <a:rPr lang="nb-NO" sz="1000" dirty="0" err="1"/>
              <a:t>the</a:t>
            </a:r>
            <a:r>
              <a:rPr lang="nb-NO" sz="1000" dirty="0"/>
              <a:t> </a:t>
            </a:r>
            <a:r>
              <a:rPr lang="nb-NO" sz="1000" dirty="0" err="1"/>
              <a:t>definition</a:t>
            </a:r>
            <a:r>
              <a:rPr lang="nb-NO" sz="1000" dirty="0"/>
              <a:t> </a:t>
            </a:r>
            <a:r>
              <a:rPr lang="nb-NO" sz="1000" dirty="0" err="1"/>
              <a:t>of</a:t>
            </a:r>
            <a:r>
              <a:rPr lang="nb-NO" sz="1000" dirty="0"/>
              <a:t> </a:t>
            </a:r>
            <a:r>
              <a:rPr lang="nb-NO" sz="1000" dirty="0" err="1"/>
              <a:t>the</a:t>
            </a:r>
            <a:r>
              <a:rPr lang="nb-NO" sz="1000" dirty="0"/>
              <a:t> zero </a:t>
            </a:r>
            <a:r>
              <a:rPr lang="nb-NO" sz="1000" dirty="0" err="1"/>
              <a:t>points</a:t>
            </a:r>
            <a:r>
              <a:rPr lang="nb-NO" sz="1000" dirty="0"/>
              <a:t> – </a:t>
            </a:r>
            <a:r>
              <a:rPr lang="nb-NO" sz="1000" dirty="0" err="1"/>
              <a:t>it`s</a:t>
            </a:r>
            <a:r>
              <a:rPr lang="nb-NO" sz="1000" dirty="0"/>
              <a:t> jumping a lot </a:t>
            </a:r>
            <a:r>
              <a:rPr lang="nb-NO" sz="1000" dirty="0" err="1"/>
              <a:t>when</a:t>
            </a:r>
            <a:r>
              <a:rPr lang="nb-NO" sz="1000" dirty="0"/>
              <a:t> </a:t>
            </a:r>
            <a:r>
              <a:rPr lang="nb-NO" sz="1000" dirty="0" err="1"/>
              <a:t>its</a:t>
            </a:r>
            <a:r>
              <a:rPr lang="nb-NO" sz="1000" dirty="0"/>
              <a:t> </a:t>
            </a:r>
            <a:r>
              <a:rPr lang="nb-NO" sz="1000" dirty="0" err="1"/>
              <a:t>upright</a:t>
            </a:r>
            <a:r>
              <a:rPr lang="nb-NO" sz="1000" dirty="0"/>
              <a:t>!</a:t>
            </a:r>
          </a:p>
        </p:txBody>
      </p:sp>
      <p:pic>
        <p:nvPicPr>
          <p:cNvPr id="3" name="Bilde 2" descr="Et bilde som inneholder tekst, skjermbilde, line, Font&#10;&#10;KI-generert innhold kan være feil.">
            <a:extLst>
              <a:ext uri="{FF2B5EF4-FFF2-40B4-BE49-F238E27FC236}">
                <a16:creationId xmlns:a16="http://schemas.microsoft.com/office/drawing/2014/main" id="{FF98DFC1-261E-EA69-BF2B-93161FD24C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0" t="9069" r="8370" b="4444"/>
          <a:stretch>
            <a:fillRect/>
          </a:stretch>
        </p:blipFill>
        <p:spPr>
          <a:xfrm>
            <a:off x="5519702" y="2914409"/>
            <a:ext cx="3197431" cy="1913711"/>
          </a:xfrm>
          <a:prstGeom prst="rect">
            <a:avLst/>
          </a:prstGeom>
        </p:spPr>
      </p:pic>
      <p:pic>
        <p:nvPicPr>
          <p:cNvPr id="5" name="Bilde 4" descr="Et bilde som inneholder tekst, skjermbilde, diagram, line&#10;&#10;KI-generert innhold kan være feil.">
            <a:extLst>
              <a:ext uri="{FF2B5EF4-FFF2-40B4-BE49-F238E27FC236}">
                <a16:creationId xmlns:a16="http://schemas.microsoft.com/office/drawing/2014/main" id="{FA885BCF-F569-6425-1382-46B5F915FB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8" t="10936" r="9068" b="4324"/>
          <a:stretch>
            <a:fillRect/>
          </a:stretch>
        </p:blipFill>
        <p:spPr>
          <a:xfrm>
            <a:off x="5458281" y="5096374"/>
            <a:ext cx="3382443" cy="1968404"/>
          </a:xfrm>
          <a:prstGeom prst="rect">
            <a:avLst/>
          </a:prstGeom>
        </p:spPr>
      </p:pic>
      <p:pic>
        <p:nvPicPr>
          <p:cNvPr id="8" name="Bilde 7" descr="Et bilde som inneholder tekst, skjermbilde, line, Plottdiagram&#10;&#10;KI-generert innhold kan være feil.">
            <a:extLst>
              <a:ext uri="{FF2B5EF4-FFF2-40B4-BE49-F238E27FC236}">
                <a16:creationId xmlns:a16="http://schemas.microsoft.com/office/drawing/2014/main" id="{8264A4F7-0388-3836-2AC2-78DFEB2BFB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5" t="8081" r="8081" b="4465"/>
          <a:stretch>
            <a:fillRect/>
          </a:stretch>
        </p:blipFill>
        <p:spPr>
          <a:xfrm>
            <a:off x="8958806" y="1800375"/>
            <a:ext cx="3677695" cy="2131769"/>
          </a:xfrm>
          <a:prstGeom prst="rect">
            <a:avLst/>
          </a:prstGeom>
        </p:spPr>
      </p:pic>
      <p:pic>
        <p:nvPicPr>
          <p:cNvPr id="4" name="Bilde 3" descr="Et bilde som inneholder line, diagram, Plottdiagram, skjermbilde&#10;&#10;KI-generert innhold kan være feil.">
            <a:extLst>
              <a:ext uri="{FF2B5EF4-FFF2-40B4-BE49-F238E27FC236}">
                <a16:creationId xmlns:a16="http://schemas.microsoft.com/office/drawing/2014/main" id="{B1F173F5-78C9-CF2E-962A-A3D7121B2E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5" t="9096" r="7982" b="3649"/>
          <a:stretch>
            <a:fillRect/>
          </a:stretch>
        </p:blipFill>
        <p:spPr>
          <a:xfrm>
            <a:off x="298588" y="3223576"/>
            <a:ext cx="2873100" cy="1661619"/>
          </a:xfrm>
          <a:prstGeom prst="rect">
            <a:avLst/>
          </a:prstGeom>
        </p:spPr>
      </p:pic>
      <p:sp>
        <p:nvSpPr>
          <p:cNvPr id="7" name="TekstSylinder 6">
            <a:extLst>
              <a:ext uri="{FF2B5EF4-FFF2-40B4-BE49-F238E27FC236}">
                <a16:creationId xmlns:a16="http://schemas.microsoft.com/office/drawing/2014/main" id="{875EB4F0-3B5F-9B94-161F-157EDC9EACE0}"/>
              </a:ext>
            </a:extLst>
          </p:cNvPr>
          <p:cNvSpPr txBox="1"/>
          <p:nvPr/>
        </p:nvSpPr>
        <p:spPr>
          <a:xfrm>
            <a:off x="177801" y="8357733"/>
            <a:ext cx="5168766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nb-NO" sz="1000" dirty="0" err="1"/>
              <a:t>Improvements</a:t>
            </a:r>
            <a:r>
              <a:rPr lang="nb-NO" sz="1000" dirty="0"/>
              <a:t>:</a:t>
            </a:r>
          </a:p>
          <a:p>
            <a:pPr marL="285750" indent="-285750">
              <a:buFontTx/>
              <a:buChar char="-"/>
            </a:pPr>
            <a:r>
              <a:rPr lang="nb-NO" sz="1000" dirty="0" err="1"/>
              <a:t>Try</a:t>
            </a:r>
            <a:r>
              <a:rPr lang="nb-NO" sz="1000" dirty="0"/>
              <a:t> to </a:t>
            </a:r>
            <a:r>
              <a:rPr lang="nb-NO" sz="1000" dirty="0" err="1"/>
              <a:t>correct</a:t>
            </a:r>
            <a:r>
              <a:rPr lang="nb-NO" sz="1000" dirty="0"/>
              <a:t> for </a:t>
            </a:r>
            <a:r>
              <a:rPr lang="nb-NO" sz="1000" dirty="0" err="1"/>
              <a:t>the</a:t>
            </a:r>
            <a:r>
              <a:rPr lang="nb-NO" sz="1000" dirty="0"/>
              <a:t> time </a:t>
            </a:r>
            <a:r>
              <a:rPr lang="nb-NO" sz="1000" dirty="0" err="1"/>
              <a:t>delay</a:t>
            </a:r>
            <a:r>
              <a:rPr lang="nb-NO" sz="1000" dirty="0"/>
              <a:t> in NTC,</a:t>
            </a:r>
            <a:br>
              <a:rPr lang="nb-NO" sz="1000" dirty="0"/>
            </a:br>
            <a:r>
              <a:rPr lang="nb-NO" sz="1000" dirty="0" err="1"/>
              <a:t>could</a:t>
            </a:r>
            <a:r>
              <a:rPr lang="nb-NO" sz="1000" dirty="0"/>
              <a:t> For </a:t>
            </a:r>
            <a:r>
              <a:rPr lang="nb-NO" sz="1000" dirty="0" err="1"/>
              <a:t>example</a:t>
            </a:r>
            <a:r>
              <a:rPr lang="nb-NO" sz="1000" dirty="0"/>
              <a:t> have </a:t>
            </a:r>
            <a:r>
              <a:rPr lang="nb-NO" sz="1000" dirty="0" err="1"/>
              <a:t>waited</a:t>
            </a:r>
            <a:r>
              <a:rPr lang="nb-NO" sz="1000" dirty="0"/>
              <a:t> 10s up </a:t>
            </a:r>
            <a:r>
              <a:rPr lang="nb-NO" sz="1000" dirty="0" err="1"/>
              <a:t>before</a:t>
            </a:r>
            <a:r>
              <a:rPr lang="nb-NO" sz="1000" dirty="0"/>
              <a:t> </a:t>
            </a:r>
            <a:r>
              <a:rPr lang="nb-NO" sz="1000" dirty="0" err="1"/>
              <a:t>drop</a:t>
            </a:r>
            <a:endParaRPr lang="nb-NO" sz="1000" dirty="0"/>
          </a:p>
          <a:p>
            <a:pPr marL="285750" indent="-285750">
              <a:buFontTx/>
              <a:buChar char="-"/>
            </a:pPr>
            <a:r>
              <a:rPr lang="nb-NO" sz="1000" dirty="0"/>
              <a:t>Have GNSS </a:t>
            </a:r>
            <a:r>
              <a:rPr lang="nb-NO" sz="1000" dirty="0" err="1"/>
              <a:t>callibration</a:t>
            </a:r>
            <a:r>
              <a:rPr lang="nb-NO" sz="1000" dirty="0"/>
              <a:t> at KHO Breinosa </a:t>
            </a:r>
            <a:r>
              <a:rPr lang="nb-NO" sz="1000" dirty="0" err="1"/>
              <a:t>before</a:t>
            </a:r>
            <a:r>
              <a:rPr lang="nb-NO" sz="1000" dirty="0"/>
              <a:t> </a:t>
            </a:r>
            <a:r>
              <a:rPr lang="nb-NO" sz="1000" dirty="0" err="1"/>
              <a:t>the</a:t>
            </a:r>
            <a:r>
              <a:rPr lang="nb-NO" sz="1000" dirty="0"/>
              <a:t> </a:t>
            </a:r>
            <a:r>
              <a:rPr lang="nb-NO" sz="1000" dirty="0" err="1"/>
              <a:t>flights</a:t>
            </a:r>
            <a:r>
              <a:rPr lang="nb-NO" sz="1000" dirty="0"/>
              <a:t>, </a:t>
            </a:r>
            <a:br>
              <a:rPr lang="nb-NO" sz="1000" dirty="0"/>
            </a:br>
            <a:r>
              <a:rPr lang="nb-NO" sz="1000" dirty="0" err="1"/>
              <a:t>then</a:t>
            </a:r>
            <a:r>
              <a:rPr lang="nb-NO" sz="1000" dirty="0"/>
              <a:t> </a:t>
            </a:r>
            <a:r>
              <a:rPr lang="nb-NO" sz="1000" dirty="0" err="1"/>
              <a:t>we</a:t>
            </a:r>
            <a:r>
              <a:rPr lang="nb-NO" sz="1000" dirty="0"/>
              <a:t> </a:t>
            </a:r>
            <a:r>
              <a:rPr lang="nb-NO" sz="1000" dirty="0" err="1"/>
              <a:t>would</a:t>
            </a:r>
            <a:r>
              <a:rPr lang="nb-NO" sz="1000" dirty="0"/>
              <a:t> have a </a:t>
            </a:r>
            <a:r>
              <a:rPr lang="nb-NO" sz="1000" dirty="0" err="1"/>
              <a:t>better</a:t>
            </a:r>
            <a:r>
              <a:rPr lang="nb-NO" sz="1000" dirty="0"/>
              <a:t> </a:t>
            </a:r>
            <a:r>
              <a:rPr lang="nb-NO" sz="1000" dirty="0" err="1"/>
              <a:t>std</a:t>
            </a:r>
            <a:r>
              <a:rPr lang="nb-NO" sz="1000" dirty="0"/>
              <a:t> for </a:t>
            </a:r>
            <a:r>
              <a:rPr lang="nb-NO" sz="1000" dirty="0" err="1"/>
              <a:t>that</a:t>
            </a:r>
            <a:r>
              <a:rPr lang="nb-NO" sz="1000" dirty="0"/>
              <a:t> </a:t>
            </a:r>
            <a:r>
              <a:rPr lang="nb-NO" sz="1000" dirty="0" err="1"/>
              <a:t>day</a:t>
            </a:r>
            <a:r>
              <a:rPr lang="nb-NO" sz="1000" dirty="0"/>
              <a:t> and </a:t>
            </a:r>
            <a:r>
              <a:rPr lang="nb-NO" sz="1000" dirty="0" err="1"/>
              <a:t>that</a:t>
            </a:r>
            <a:r>
              <a:rPr lang="nb-NO" sz="1000" dirty="0"/>
              <a:t> location </a:t>
            </a:r>
            <a:r>
              <a:rPr lang="nb-NO" sz="1000" dirty="0" err="1"/>
              <a:t>instead</a:t>
            </a:r>
            <a:r>
              <a:rPr lang="nb-NO" sz="1000" dirty="0"/>
              <a:t> </a:t>
            </a:r>
            <a:r>
              <a:rPr lang="nb-NO" sz="1000" dirty="0" err="1"/>
              <a:t>of</a:t>
            </a:r>
            <a:r>
              <a:rPr lang="nb-NO" sz="1000" dirty="0"/>
              <a:t> </a:t>
            </a:r>
            <a:r>
              <a:rPr lang="nb-NO" sz="1000" dirty="0" err="1"/>
              <a:t>using</a:t>
            </a:r>
            <a:r>
              <a:rPr lang="nb-NO" sz="1000" dirty="0"/>
              <a:t> </a:t>
            </a:r>
            <a:r>
              <a:rPr lang="nb-NO" sz="1000" dirty="0" err="1"/>
              <a:t>the</a:t>
            </a:r>
            <a:r>
              <a:rPr lang="nb-NO" sz="1000" dirty="0"/>
              <a:t> </a:t>
            </a:r>
            <a:r>
              <a:rPr lang="nb-NO" sz="1000" dirty="0" err="1"/>
              <a:t>one</a:t>
            </a:r>
            <a:r>
              <a:rPr lang="nb-NO" sz="1000" dirty="0"/>
              <a:t> from </a:t>
            </a:r>
            <a:r>
              <a:rPr lang="nb-NO" sz="1000" dirty="0" err="1"/>
              <a:t>the</a:t>
            </a:r>
            <a:r>
              <a:rPr lang="nb-NO" sz="1000" dirty="0"/>
              <a:t> </a:t>
            </a:r>
            <a:r>
              <a:rPr lang="nb-NO" sz="1000" dirty="0" err="1"/>
              <a:t>measurement</a:t>
            </a:r>
            <a:r>
              <a:rPr lang="nb-NO" sz="1000" dirty="0"/>
              <a:t> at UNIS</a:t>
            </a:r>
          </a:p>
        </p:txBody>
      </p:sp>
      <p:pic>
        <p:nvPicPr>
          <p:cNvPr id="18" name="Bilde 17" descr="Et bilde som inneholder tekst, skjermbilde, Plottdiagram, line&#10;&#10;KI-generert innhold kan være feil.">
            <a:extLst>
              <a:ext uri="{FF2B5EF4-FFF2-40B4-BE49-F238E27FC236}">
                <a16:creationId xmlns:a16="http://schemas.microsoft.com/office/drawing/2014/main" id="{B169C7A2-F930-52FD-93AF-3F01EED9CA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9" t="10029" r="8410" b="5152"/>
          <a:stretch>
            <a:fillRect/>
          </a:stretch>
        </p:blipFill>
        <p:spPr>
          <a:xfrm>
            <a:off x="8997789" y="5042145"/>
            <a:ext cx="3747917" cy="213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235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-t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</TotalTime>
  <Words>499</Words>
  <Application>Microsoft Office PowerPoint</Application>
  <PresentationFormat>A3 (297 x 420 mm)</PresentationFormat>
  <Paragraphs>44</Paragraphs>
  <Slides>1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Office-tema</vt:lpstr>
      <vt:lpstr>PowerPoint-presentasjon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Selma Anneliese Sabine Kiefersauer</dc:creator>
  <cp:lastModifiedBy>Selma Anneliese Sabine Kiefersauer</cp:lastModifiedBy>
  <cp:revision>9</cp:revision>
  <dcterms:created xsi:type="dcterms:W3CDTF">2025-11-01T13:51:12Z</dcterms:created>
  <dcterms:modified xsi:type="dcterms:W3CDTF">2025-11-14T18:10:04Z</dcterms:modified>
</cp:coreProperties>
</file>